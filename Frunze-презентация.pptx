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720000"/>
            <a:ext cx="3600000" cy="21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00" b="1" i="0">
                <a:solidFill>
                  <a:srgbClr val="00A79D"/>
                </a:solidFill>
                <a:latin typeface="Arial"/>
              </a:rPr>
              <a:t>Frunze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232000"/>
            <a:ext cx="6480000" cy="28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Arial"/>
              </a:rPr>
              <a:t>следующий шаг 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8280000" cy="10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Arial"/>
              </a:rPr>
              <a:t>Frunze Travel:</a:t>
            </a:r>
            <a:br/>
            <a:r>
              <a:t>следующий шаг 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999" y="2880000"/>
            <a:ext cx="6840000" cy="28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800" b="0" i="0">
                <a:solidFill>
                  <a:srgbClr val="BEDADA"/>
                </a:solidFill>
                <a:latin typeface="Arial"/>
              </a:rPr>
              <a:t>Из потока сообщений — в понятную очередь клиентов с деньгами.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2000" y="1080000"/>
            <a:ext cx="2664000" cy="3456000"/>
          </a:xfrm>
          <a:prstGeom prst="roundRect">
            <a:avLst/>
          </a:prstGeom>
          <a:solidFill>
            <a:srgbClr val="133044"/>
          </a:solidFill>
          <a:ln>
            <a:solidFill>
              <a:srgbClr val="2A5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6000" y="1350000"/>
            <a:ext cx="2015999" cy="43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515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6800" y="1800000"/>
            <a:ext cx="2124000" cy="43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00" b="0" i="0">
                <a:solidFill>
                  <a:srgbClr val="BEDADA"/>
                </a:solidFill>
                <a:latin typeface="Arial"/>
              </a:rPr>
              <a:t>реальных диалогов</a:t>
            </a:r>
            <a:br/>
            <a:r>
              <a:t>24.06–02.07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6000" y="2520000"/>
            <a:ext cx="2015999" cy="43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400" b="1" i="0">
                <a:solidFill>
                  <a:srgbClr val="00A79D"/>
                </a:solidFill>
                <a:latin typeface="Arial"/>
              </a:rPr>
              <a:t>98,4%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6800" y="2951999"/>
            <a:ext cx="2088000" cy="21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00" b="0" i="0">
                <a:solidFill>
                  <a:srgbClr val="BEDADA"/>
                </a:solidFill>
                <a:latin typeface="Arial"/>
              </a:rPr>
              <a:t>бот провёл сам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6282000"/>
            <a:ext cx="43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00" b="0" i="0">
                <a:solidFill>
                  <a:srgbClr val="BEDADA"/>
                </a:solidFill>
                <a:latin typeface="Arial"/>
              </a:rPr>
              <a:t>Frunze Travel · GetVisa · Бишкек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70000"/>
            <a:ext cx="324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1" i="0">
                <a:solidFill>
                  <a:srgbClr val="007170"/>
                </a:solidFill>
                <a:latin typeface="Arial"/>
              </a:rPr>
              <a:t>РЕАЛЬНЫЕ ДАННЫЕ ИЗ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424800"/>
            <a:ext cx="774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000" b="1" i="0">
                <a:solidFill>
                  <a:srgbClr val="16232D"/>
                </a:solidFill>
                <a:latin typeface="Arial"/>
              </a:rPr>
              <a:t>Что бот уже делает сейчас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86400"/>
            <a:ext cx="1152000" cy="28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000" y="1260000"/>
            <a:ext cx="2520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999" y="1360800"/>
            <a:ext cx="226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00A79D"/>
                </a:solidFill>
                <a:latin typeface="Arial"/>
              </a:rPr>
              <a:t>515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99" y="1710000"/>
            <a:ext cx="226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реальных диалогов, не тесты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000" y="1260000"/>
            <a:ext cx="2520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5999" y="1360800"/>
            <a:ext cx="226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007170"/>
                </a:solidFill>
                <a:latin typeface="Arial"/>
              </a:rPr>
              <a:t>4122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5999" y="1710000"/>
            <a:ext cx="226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сообщения обработано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0000" y="1260000"/>
            <a:ext cx="2520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5999" y="1360800"/>
            <a:ext cx="226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F5B440"/>
                </a:solidFill>
                <a:latin typeface="Arial"/>
              </a:rPr>
              <a:t>1209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5999" y="1710000"/>
            <a:ext cx="226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ответов бота клиентам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0000" y="1260000"/>
            <a:ext cx="2520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5999" y="1360800"/>
            <a:ext cx="226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E3484C"/>
                </a:solidFill>
                <a:latin typeface="Arial"/>
              </a:rPr>
              <a:t>98,4%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5999" y="1710000"/>
            <a:ext cx="226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диалогов бот провёл сам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000" y="2592000"/>
            <a:ext cx="52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999" y="2692800"/>
            <a:ext cx="5040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00A79D"/>
                </a:solidFill>
                <a:latin typeface="Arial"/>
              </a:rPr>
              <a:t>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999" y="3042000"/>
            <a:ext cx="5040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24/7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999" y="3286800"/>
            <a:ext cx="5040001" cy="82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50" b="0" i="0">
                <a:solidFill>
                  <a:srgbClr val="16232D"/>
                </a:solidFill>
                <a:latin typeface="Arial"/>
              </a:rPr>
              <a:t>48% ответов вне рабочих часов: половина клиентов пишет вечером или ночью.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68000" y="2592000"/>
            <a:ext cx="52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3999" y="2692800"/>
            <a:ext cx="5040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F5B440"/>
                </a:solidFill>
                <a:latin typeface="Arial"/>
              </a:rPr>
              <a:t>35–100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3999" y="3042000"/>
            <a:ext cx="5040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Поток новых клиентов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3999" y="3286800"/>
            <a:ext cx="5040001" cy="82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50" b="0" i="0">
                <a:solidFill>
                  <a:srgbClr val="16232D"/>
                </a:solidFill>
                <a:latin typeface="Arial"/>
              </a:rPr>
              <a:t>35–100 новых клиентов в день. Это уже ежедневная нагрузка, а не разовый тест.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000" y="4176000"/>
            <a:ext cx="2880000" cy="21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600" b="1" i="0">
                <a:solidFill>
                  <a:srgbClr val="16232D"/>
                </a:solidFill>
                <a:latin typeface="Arial"/>
              </a:rPr>
              <a:t>Направления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000" y="4554000"/>
            <a:ext cx="756000" cy="151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4D5D69"/>
                </a:solidFill>
                <a:latin typeface="Arial"/>
              </a:rPr>
              <a:t>туры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96000" y="4572000"/>
            <a:ext cx="6660000" cy="136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0000" y="4543200"/>
            <a:ext cx="1440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16232D"/>
                </a:solidFill>
                <a:latin typeface="Arial"/>
              </a:rPr>
              <a:t>338 диалогов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000" y="4932000"/>
            <a:ext cx="756000" cy="151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4D5D69"/>
                </a:solidFill>
                <a:latin typeface="Arial"/>
              </a:rPr>
              <a:t>визы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6000" y="4950000"/>
            <a:ext cx="3467928" cy="136800"/>
          </a:xfrm>
          <a:prstGeom prst="rect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0000" y="4921200"/>
            <a:ext cx="1440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16232D"/>
                </a:solidFill>
                <a:latin typeface="Arial"/>
              </a:rPr>
              <a:t>176 диалогов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5310000"/>
            <a:ext cx="756000" cy="151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4D5D69"/>
                </a:solidFill>
                <a:latin typeface="Arial"/>
              </a:rPr>
              <a:t>билеты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96000" y="5328000"/>
            <a:ext cx="19704" cy="136800"/>
          </a:xfrm>
          <a:prstGeom prst="rect">
            <a:avLst/>
          </a:prstGeom>
          <a:solidFill>
            <a:srgbClr val="8E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0000" y="5299200"/>
            <a:ext cx="1440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16232D"/>
                </a:solidFill>
                <a:latin typeface="Arial"/>
              </a:rPr>
              <a:t>1 диалогов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000" y="65160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850" b="0" i="0">
                <a:solidFill>
                  <a:srgbClr val="4D5D69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68000" y="6498000"/>
            <a:ext cx="396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50" b="1" i="0">
                <a:solidFill>
                  <a:srgbClr val="4D5D69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70000"/>
            <a:ext cx="324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1" i="0">
                <a:solidFill>
                  <a:srgbClr val="007170"/>
                </a:solidFill>
                <a:latin typeface="Arial"/>
              </a:rPr>
              <a:t>ДЕНЬГИ ТОНУТ В ШУМЕ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424800"/>
            <a:ext cx="774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000" b="1" i="0">
                <a:solidFill>
                  <a:srgbClr val="16232D"/>
                </a:solidFill>
                <a:latin typeface="Arial"/>
              </a:rPr>
              <a:t>Проблема владельца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86400"/>
            <a:ext cx="1152000" cy="28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1332000"/>
            <a:ext cx="6300000" cy="43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100" b="1" i="0">
                <a:solidFill>
                  <a:srgbClr val="16232D"/>
                </a:solidFill>
                <a:latin typeface="Arial"/>
              </a:rPr>
              <a:t>Из 100 человек в день реальные деньги — 15–20.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872000"/>
            <a:ext cx="7560000" cy="64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700" b="0" i="0">
                <a:solidFill>
                  <a:srgbClr val="4D5D69"/>
                </a:solidFill>
                <a:latin typeface="Arial"/>
              </a:rPr>
              <a:t>Остальное — «сколько стоит?» и пропал, болтуны, реклама. Горячий клиент с деньгами теряется в общей куче, и менеджер находит его через сутки или не находит.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2951999"/>
            <a:ext cx="4140000" cy="1548000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2000" y="3258000"/>
            <a:ext cx="3528000" cy="75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15–20</a:t>
            </a:r>
            <a:br/>
            <a:r>
              <a:t>деньги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3999" y="2951999"/>
            <a:ext cx="4140000" cy="1548000"/>
          </a:xfrm>
          <a:prstGeom prst="roundRect">
            <a:avLst/>
          </a:prstGeom>
          <a:solidFill>
            <a:srgbClr val="8E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6000" y="3258000"/>
            <a:ext cx="3528000" cy="75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80+</a:t>
            </a:r>
            <a:br/>
            <a:r>
              <a:t>шум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00" y="4968000"/>
            <a:ext cx="10008000" cy="900000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0" y="5166000"/>
            <a:ext cx="9180000" cy="43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800" b="0" i="1">
                <a:solidFill>
                  <a:srgbClr val="16232D"/>
                </a:solidFill>
                <a:latin typeface="Arial"/>
              </a:rPr>
              <a:t>«Мне не нужно читать 100 чатов. Мне нужно видеть: вот эти 12 — с деньгами, к ним бегом».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65160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850" b="0" i="0">
                <a:solidFill>
                  <a:srgbClr val="4D5D69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68000" y="6498000"/>
            <a:ext cx="396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50" b="1" i="0">
                <a:solidFill>
                  <a:srgbClr val="4D5D69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70000"/>
            <a:ext cx="324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1" i="0">
                <a:solidFill>
                  <a:srgbClr val="007170"/>
                </a:solidFill>
                <a:latin typeface="Arial"/>
              </a:rPr>
              <a:t>КАЖДЫЙ КЛИЕНТ ПОЛУЧАЕТ ЦВЕТ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424800"/>
            <a:ext cx="774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000" b="1" i="0">
                <a:solidFill>
                  <a:srgbClr val="16232D"/>
                </a:solidFill>
                <a:latin typeface="Arial"/>
              </a:rPr>
              <a:t>Решение: бот-светофор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86400"/>
            <a:ext cx="1152000" cy="28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000" y="1440000"/>
            <a:ext cx="3438000" cy="3851999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000" y="1440000"/>
            <a:ext cx="3438000" cy="151200"/>
          </a:xfrm>
          <a:prstGeom prst="rect">
            <a:avLst/>
          </a:prstGeom>
          <a:solidFill>
            <a:srgbClr val="E3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4000" y="1800000"/>
            <a:ext cx="522000" cy="522000"/>
          </a:xfrm>
          <a:prstGeom prst="ellipse">
            <a:avLst/>
          </a:prstGeom>
          <a:solidFill>
            <a:srgbClr val="E3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2520000"/>
            <a:ext cx="2916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1" i="0">
                <a:solidFill>
                  <a:srgbClr val="16232D"/>
                </a:solidFill>
                <a:latin typeface="Arial"/>
              </a:rPr>
              <a:t>Горячий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970000"/>
            <a:ext cx="2916000" cy="54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50" b="0" i="0">
                <a:solidFill>
                  <a:srgbClr val="4D5D69"/>
                </a:solidFill>
                <a:latin typeface="Arial"/>
              </a:rPr>
              <a:t>Назвал даты, бюджет или людей, просит оформить.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996000"/>
            <a:ext cx="2916000" cy="72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450" b="1" i="0">
                <a:solidFill>
                  <a:srgbClr val="16232D"/>
                </a:solidFill>
                <a:latin typeface="Arial"/>
              </a:rPr>
              <a:t>Сразу менеджеру с готовым резюме: тут деньги.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1999" y="1440000"/>
            <a:ext cx="3438000" cy="3851999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1999" y="1440000"/>
            <a:ext cx="3438000" cy="151200"/>
          </a:xfrm>
          <a:prstGeom prst="rect">
            <a:avLst/>
          </a:prstGeom>
          <a:solidFill>
            <a:srgbClr val="F6C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45999" y="1800000"/>
            <a:ext cx="522000" cy="522000"/>
          </a:xfrm>
          <a:prstGeom prst="ellipse">
            <a:avLst/>
          </a:prstGeom>
          <a:solidFill>
            <a:srgbClr val="F6C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5999" y="2520000"/>
            <a:ext cx="2916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1" i="0">
                <a:solidFill>
                  <a:srgbClr val="16232D"/>
                </a:solidFill>
                <a:latin typeface="Arial"/>
              </a:rPr>
              <a:t>Тёплый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999" y="2970000"/>
            <a:ext cx="2916000" cy="54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50" b="0" i="0">
                <a:solidFill>
                  <a:srgbClr val="4D5D69"/>
                </a:solidFill>
                <a:latin typeface="Arial"/>
              </a:rPr>
              <a:t>Интересуется, спросил цену, думает.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5999" y="3996000"/>
            <a:ext cx="2916000" cy="72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450" b="1" i="0">
                <a:solidFill>
                  <a:srgbClr val="16232D"/>
                </a:solidFill>
                <a:latin typeface="Arial"/>
              </a:rPr>
              <a:t>Бот сам напоминает через день-два, вежливо и один раз.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999" y="1440000"/>
            <a:ext cx="3438000" cy="3851999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999" y="1440000"/>
            <a:ext cx="3438000" cy="151200"/>
          </a:xfrm>
          <a:prstGeom prst="rect">
            <a:avLst/>
          </a:prstGeom>
          <a:solidFill>
            <a:srgbClr val="8E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07999" y="1800000"/>
            <a:ext cx="522000" cy="522000"/>
          </a:xfrm>
          <a:prstGeom prst="ellipse">
            <a:avLst/>
          </a:prstGeom>
          <a:solidFill>
            <a:srgbClr val="8E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7999" y="2520000"/>
            <a:ext cx="2916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1" i="0">
                <a:solidFill>
                  <a:srgbClr val="16232D"/>
                </a:solidFill>
                <a:latin typeface="Arial"/>
              </a:rPr>
              <a:t>Просто спросил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7999" y="2970000"/>
            <a:ext cx="2916000" cy="54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50" b="0" i="0">
                <a:solidFill>
                  <a:srgbClr val="4D5D69"/>
                </a:solidFill>
                <a:latin typeface="Arial"/>
              </a:rPr>
              <a:t>Праздный вопрос, поболтать или реклама.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7999" y="3996000"/>
            <a:ext cx="2916000" cy="72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450" b="1" i="0">
                <a:solidFill>
                  <a:srgbClr val="16232D"/>
                </a:solidFill>
                <a:latin typeface="Arial"/>
              </a:rPr>
              <a:t>Бот отвечает сам тепло, менеджеров не трогает.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65160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850" b="0" i="0">
                <a:solidFill>
                  <a:srgbClr val="4D5D69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68000" y="6498000"/>
            <a:ext cx="396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50" b="1" i="0">
                <a:solidFill>
                  <a:srgbClr val="4D5D69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70000"/>
            <a:ext cx="324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1" i="0">
                <a:solidFill>
                  <a:srgbClr val="007170"/>
                </a:solidFill>
                <a:latin typeface="Arial"/>
              </a:rPr>
              <a:t>ПРИМЕР МАКЕТА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424800"/>
            <a:ext cx="774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000" b="1" i="0">
                <a:solidFill>
                  <a:srgbClr val="16232D"/>
                </a:solidFill>
                <a:latin typeface="Arial"/>
              </a:rPr>
              <a:t>Панель владельца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86400"/>
            <a:ext cx="1152000" cy="28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278000"/>
            <a:ext cx="10728000" cy="4608000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565999"/>
            <a:ext cx="1800000" cy="21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700" b="1" i="0">
                <a:solidFill>
                  <a:srgbClr val="16232D"/>
                </a:solidFill>
                <a:latin typeface="Arial"/>
              </a:rPr>
              <a:t>Сегодня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800000"/>
            <a:ext cx="360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0" i="0">
                <a:solidFill>
                  <a:srgbClr val="4D5D69"/>
                </a:solidFill>
                <a:latin typeface="Arial"/>
              </a:rPr>
              <a:t>не 100 переписок, а сводка по деньгам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0000" y="2268000"/>
            <a:ext cx="2340000" cy="147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5999" y="2368800"/>
            <a:ext cx="208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E3484C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5999" y="2718000"/>
            <a:ext cx="208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горячих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000" y="2268000"/>
            <a:ext cx="2340000" cy="147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9999" y="2368800"/>
            <a:ext cx="208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F6C446"/>
                </a:solidFill>
                <a:latin typeface="Arial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9999" y="2718000"/>
            <a:ext cx="208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тёплых</a:t>
            </a:r>
            <a:br/>
            <a:r>
              <a:t>бот дожимает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8000" y="2268000"/>
            <a:ext cx="2340000" cy="147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3999" y="2368800"/>
            <a:ext cx="2088001" cy="32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600" b="1" i="0">
                <a:solidFill>
                  <a:srgbClr val="8E979E"/>
                </a:solidFill>
                <a:latin typeface="Arial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3999" y="2718000"/>
            <a:ext cx="2088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4D5D69"/>
                </a:solidFill>
                <a:latin typeface="Arial"/>
              </a:rPr>
              <a:t>спросили</a:t>
            </a:r>
            <a:br/>
            <a:r>
              <a:t>и ушли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0000" y="4104000"/>
            <a:ext cx="7668000" cy="810000"/>
          </a:xfrm>
          <a:prstGeom prst="roundRect">
            <a:avLst/>
          </a:prstGeom>
          <a:solidFill>
            <a:srgbClr val="E8F7F6"/>
          </a:solidFill>
          <a:ln>
            <a:solidFill>
              <a:srgbClr val="B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4000" y="4266000"/>
            <a:ext cx="3960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00" b="1" i="0">
                <a:solidFill>
                  <a:srgbClr val="007170"/>
                </a:solidFill>
                <a:latin typeface="Arial"/>
              </a:rPr>
              <a:t>примерная сумма разговоров в работе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000" y="4482000"/>
            <a:ext cx="5040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700" b="1" i="0">
                <a:solidFill>
                  <a:srgbClr val="16232D"/>
                </a:solidFill>
                <a:latin typeface="Arial"/>
              </a:rPr>
              <a:t>владелец видит, где сейчас деньги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0" y="1565999"/>
            <a:ext cx="1655999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1100" b="1" i="0">
                <a:solidFill>
                  <a:srgbClr val="007170"/>
                </a:solidFill>
                <a:latin typeface="Arial"/>
              </a:rPr>
              <a:t>пример макета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" y="65160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850" b="0" i="0">
                <a:solidFill>
                  <a:srgbClr val="4D5D69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8000" y="6498000"/>
            <a:ext cx="396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50" b="1" i="0">
                <a:solidFill>
                  <a:srgbClr val="4D5D69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70000"/>
            <a:ext cx="324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1" i="0">
                <a:solidFill>
                  <a:srgbClr val="007170"/>
                </a:solidFill>
                <a:latin typeface="Arial"/>
              </a:rPr>
              <a:t>РЕЗУЛЬТАТ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424800"/>
            <a:ext cx="774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000" b="1" i="0">
                <a:solidFill>
                  <a:srgbClr val="16232D"/>
                </a:solidFill>
                <a:latin typeface="Arial"/>
              </a:rPr>
              <a:t>Что изменится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86400"/>
            <a:ext cx="1152000" cy="28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000" y="1440000"/>
            <a:ext cx="5076000" cy="14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999" y="1565999"/>
            <a:ext cx="4824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16232D"/>
                </a:solidFill>
                <a:latin typeface="Arial"/>
              </a:rPr>
              <a:t>Больше оплат из того же потока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99" y="1810799"/>
            <a:ext cx="4824001" cy="10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50" b="0" i="0">
                <a:solidFill>
                  <a:srgbClr val="16232D"/>
                </a:solidFill>
                <a:latin typeface="Arial"/>
              </a:rPr>
              <a:t>горячие не теряются, тёплые не остывают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1440000"/>
            <a:ext cx="64800" cy="14040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94000" y="1440000"/>
            <a:ext cx="5076000" cy="14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9999" y="1565999"/>
            <a:ext cx="4824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16232D"/>
                </a:solidFill>
                <a:latin typeface="Arial"/>
              </a:rPr>
              <a:t>Менеджеры только на деньгах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999" y="1810799"/>
            <a:ext cx="4824001" cy="10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50" b="0" i="0">
                <a:solidFill>
                  <a:srgbClr val="16232D"/>
                </a:solidFill>
                <a:latin typeface="Arial"/>
              </a:rPr>
              <a:t>Адеми, Сезим, Медина, Элиза не перелопачивают шум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4000" y="1440000"/>
            <a:ext cx="64800" cy="1404000"/>
          </a:xfrm>
          <a:prstGeom prst="rect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000" y="3348000"/>
            <a:ext cx="5076000" cy="14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999" y="3473999"/>
            <a:ext cx="4824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16232D"/>
                </a:solidFill>
                <a:latin typeface="Arial"/>
              </a:rPr>
              <a:t>Репутация цела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999" y="3718799"/>
            <a:ext cx="4824001" cy="10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50" b="0" i="0">
                <a:solidFill>
                  <a:srgbClr val="16232D"/>
                </a:solidFill>
                <a:latin typeface="Arial"/>
              </a:rPr>
              <a:t>даже «просто спросившему» отвечают тепло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" y="3348000"/>
            <a:ext cx="64800" cy="14040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94000" y="3348000"/>
            <a:ext cx="5076000" cy="14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9999" y="3473999"/>
            <a:ext cx="4824001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050" b="1" i="0">
                <a:solidFill>
                  <a:srgbClr val="16232D"/>
                </a:solidFill>
                <a:latin typeface="Arial"/>
              </a:rPr>
              <a:t>Владелец видит бизнес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9999" y="3718799"/>
            <a:ext cx="4824001" cy="10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150" b="0" i="0">
                <a:solidFill>
                  <a:srgbClr val="16232D"/>
                </a:solidFill>
                <a:latin typeface="Arial"/>
              </a:rPr>
              <a:t>не 100 чатов, а очередь возможностей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94000" y="3348000"/>
            <a:ext cx="64800" cy="14040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000" y="65160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850" b="0" i="0">
                <a:solidFill>
                  <a:srgbClr val="4D5D69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8000" y="6498000"/>
            <a:ext cx="396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50" b="1" i="0">
                <a:solidFill>
                  <a:srgbClr val="4D5D69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70000"/>
            <a:ext cx="3240000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1" i="0">
                <a:solidFill>
                  <a:srgbClr val="007170"/>
                </a:solidFill>
                <a:latin typeface="Arial"/>
              </a:rPr>
              <a:t>ЧЕСТНЫЕ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424800"/>
            <a:ext cx="7740000" cy="48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3000" b="1" i="0">
                <a:solidFill>
                  <a:srgbClr val="16232D"/>
                </a:solidFill>
                <a:latin typeface="Arial"/>
              </a:rPr>
              <a:t>Как поймём, что работает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86400"/>
            <a:ext cx="1152000" cy="288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000" y="1584000"/>
            <a:ext cx="3438000" cy="3204000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999" y="1854000"/>
            <a:ext cx="2880000" cy="64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1" i="0">
                <a:solidFill>
                  <a:srgbClr val="16232D"/>
                </a:solidFill>
                <a:latin typeface="Arial"/>
              </a:rPr>
              <a:t>Время реакции</a:t>
            </a:r>
            <a:br/>
            <a:r>
              <a:t>на горячего лида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01999" y="2718000"/>
            <a:ext cx="756000" cy="43200"/>
          </a:xfrm>
          <a:prstGeom prst="rect">
            <a:avLst/>
          </a:prstGeom>
          <a:solidFill>
            <a:srgbClr val="E3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999" y="3006000"/>
            <a:ext cx="2880000" cy="61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700" b="0" i="0">
                <a:solidFill>
                  <a:srgbClr val="4D5D69"/>
                </a:solidFill>
                <a:latin typeface="Arial"/>
              </a:rPr>
              <a:t>цель: минуты,</a:t>
            </a:r>
            <a:br/>
            <a:r>
              <a:t>не часы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1999" y="1584000"/>
            <a:ext cx="3438000" cy="3204000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3998" y="1854000"/>
            <a:ext cx="2880000" cy="64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1" i="0">
                <a:solidFill>
                  <a:srgbClr val="16232D"/>
                </a:solidFill>
                <a:latin typeface="Arial"/>
              </a:rPr>
              <a:t>Конверсия</a:t>
            </a:r>
            <a:br/>
            <a:r>
              <a:t>в оплату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3998" y="2718000"/>
            <a:ext cx="756000" cy="432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3998" y="3006000"/>
            <a:ext cx="2880000" cy="61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700" b="0" i="0">
                <a:solidFill>
                  <a:srgbClr val="4D5D69"/>
                </a:solidFill>
                <a:latin typeface="Arial"/>
              </a:rPr>
              <a:t>каждый диалог</a:t>
            </a:r>
            <a:br/>
            <a:r>
              <a:t>получает исход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999" y="1584000"/>
            <a:ext cx="3438000" cy="3204000"/>
          </a:xfrm>
          <a:prstGeom prst="roundRect">
            <a:avLst/>
          </a:prstGeom>
          <a:solidFill>
            <a:srgbClr val="FFFFFF"/>
          </a:solidFill>
          <a:ln>
            <a:solidFill>
              <a:srgbClr val="DA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5998" y="1854000"/>
            <a:ext cx="2880000" cy="64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000" b="1" i="0">
                <a:solidFill>
                  <a:srgbClr val="16232D"/>
                </a:solidFill>
                <a:latin typeface="Arial"/>
              </a:rPr>
              <a:t>Горячих</a:t>
            </a:r>
            <a:br/>
            <a:r>
              <a:t>в день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5998" y="2718000"/>
            <a:ext cx="756000" cy="43200"/>
          </a:xfrm>
          <a:prstGeom prst="rect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5998" y="3006000"/>
            <a:ext cx="2880000" cy="61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700" b="0" i="0">
                <a:solidFill>
                  <a:srgbClr val="4D5D69"/>
                </a:solidFill>
                <a:latin typeface="Arial"/>
              </a:rPr>
              <a:t>сколько бот</a:t>
            </a:r>
            <a:br/>
            <a:r>
              <a:t>выделил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5472000"/>
            <a:ext cx="8280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800" b="1" i="0">
                <a:solidFill>
                  <a:srgbClr val="16232D"/>
                </a:solidFill>
                <a:latin typeface="Arial"/>
              </a:rPr>
              <a:t>Главный вопрос: стало ли больше оплат из того же входящего потока.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" y="65160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850" b="0" i="0">
                <a:solidFill>
                  <a:srgbClr val="4D5D69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8000" y="6498000"/>
            <a:ext cx="396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50" b="1" i="0">
                <a:solidFill>
                  <a:srgbClr val="4D5D69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94000"/>
            <a:ext cx="432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200" b="1" i="0">
                <a:solidFill>
                  <a:srgbClr val="00A79D"/>
                </a:solidFill>
                <a:latin typeface="Arial"/>
              </a:rPr>
              <a:t>Суть в одном предложении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540000" cy="187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Бот перестаёт быть «умным собеседником» и становится фильтром: пропускает шум через себя, а владельцу и менеджерам подаёт только людей с деньгами — вовремя и с сохранённой репутацией.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860000"/>
            <a:ext cx="756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1300" b="0" i="0">
                <a:solidFill>
                  <a:srgbClr val="BEDADA"/>
                </a:solidFill>
                <a:latin typeface="Arial"/>
              </a:rPr>
              <a:t>Frunze Travel · GetVisa — Бишкек · AI-менеджер первой линии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246000"/>
            <a:ext cx="7920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r>
              <a:rPr sz="900" b="0" i="0">
                <a:solidFill>
                  <a:srgbClr val="91B2B5"/>
                </a:solidFill>
                <a:latin typeface="Arial"/>
              </a:rPr>
              <a:t>Данные из рабочей базы за 24.06–02.07.2026. Панель — макет предлагаемого решения.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70000"/>
            <a:ext cx="12192119" cy="28800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