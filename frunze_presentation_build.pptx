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09728" cy="544068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1" i="0">
                <a:solidFill>
                  <a:srgbClr val="009C94"/>
                </a:solidFill>
                <a:latin typeface="Arial"/>
              </a:rPr>
              <a:t>Frunze Travel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8138160" cy="13258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400" b="1" i="0">
                <a:solidFill>
                  <a:srgbClr val="FFFFFF"/>
                </a:solidFill>
                <a:latin typeface="Arial"/>
              </a:rPr>
              <a:t>Frunze Travel —</a:t>
            </a:r>
          </a:p>
          <a:p>
            <a:r>
              <a:rPr sz="3400" b="1" i="0">
                <a:solidFill>
                  <a:srgbClr val="FFFFFF"/>
                </a:solidFill>
                <a:latin typeface="Arial"/>
              </a:rPr>
              <a:t>следующий шаг 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3429000"/>
            <a:ext cx="768096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0" i="0">
                <a:solidFill>
                  <a:srgbClr val="B7CCD3"/>
                </a:solidFill>
                <a:latin typeface="Arial"/>
              </a:rPr>
              <a:t>Из потока в 100 сообщений в день — в понятную очередь клиентов с деньгами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417320"/>
            <a:ext cx="2697480" cy="3429000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2A56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7968" y="1783080"/>
            <a:ext cx="201168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600" b="1" i="0">
                <a:solidFill>
                  <a:srgbClr val="FFFFFF"/>
                </a:solidFill>
                <a:latin typeface="Arial"/>
              </a:rPr>
              <a:t>369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2359152"/>
            <a:ext cx="201168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B7CCD3"/>
                </a:solidFill>
                <a:latin typeface="Arial"/>
              </a:rPr>
              <a:t>реальных</a:t>
            </a:r>
          </a:p>
          <a:p>
            <a:r>
              <a:rPr sz="1500" b="0" i="0">
                <a:solidFill>
                  <a:srgbClr val="B7CCD3"/>
                </a:solidFill>
                <a:latin typeface="Arial"/>
              </a:rPr>
              <a:t>диалогов с 1 июля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3337560"/>
            <a:ext cx="201168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600" b="1" i="0">
                <a:solidFill>
                  <a:srgbClr val="009C94"/>
                </a:solidFill>
                <a:latin typeface="Arial"/>
              </a:rPr>
              <a:t>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3913632"/>
            <a:ext cx="201168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B7CCD3"/>
                </a:solidFill>
                <a:latin typeface="Arial"/>
              </a:rPr>
              <a:t>вёл сам, без</a:t>
            </a:r>
          </a:p>
          <a:p>
            <a:r>
              <a:rPr sz="1500" b="0" i="0">
                <a:solidFill>
                  <a:srgbClr val="B7CCD3"/>
                </a:solidFill>
                <a:latin typeface="Arial"/>
              </a:rPr>
              <a:t>вмешательства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016752"/>
            <a:ext cx="530352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950" b="0" i="0">
                <a:solidFill>
                  <a:srgbClr val="B7CCD3"/>
                </a:solidFill>
                <a:latin typeface="Arial"/>
              </a:rPr>
              <a:t>Frunze Travel · GetVisa · Бишкек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РЕАЛЬНЫЕ ДАННЫЕ ИЗ WHATSAPP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Что бот уже делает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009C94"/>
                </a:solidFill>
                <a:latin typeface="Arial"/>
              </a:rPr>
              <a:t>369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диалогов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с 1 июля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00676D"/>
                </a:solidFill>
                <a:latin typeface="Arial"/>
              </a:rPr>
              <a:t>4600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сообщений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обработано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F5B440"/>
                </a:solidFill>
                <a:latin typeface="Arial"/>
              </a:rPr>
              <a:t>1956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ответов бота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клиентам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2057400"/>
            <a:ext cx="25420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4" y="2267712"/>
            <a:ext cx="20574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DE4A4D"/>
                </a:solidFill>
                <a:latin typeface="Arial"/>
              </a:rPr>
              <a:t>96%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2788920"/>
            <a:ext cx="2057400" cy="47548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вёл сам, без</a:t>
            </a:r>
          </a:p>
          <a:p>
            <a:r>
              <a:rPr sz="1300" b="0" i="0">
                <a:solidFill>
                  <a:srgbClr val="54637C"/>
                </a:solidFill>
                <a:latin typeface="Arial"/>
              </a:rPr>
              <a:t>менеджера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69080"/>
            <a:ext cx="5303520" cy="1143000"/>
          </a:xfrm>
          <a:prstGeom prst="roundRect">
            <a:avLst/>
          </a:prstGeom>
          <a:solidFill>
            <a:srgbClr val="E0F5F1"/>
          </a:solidFill>
          <a:ln w="12700">
            <a:solidFill>
              <a:srgbClr val="B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480060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Туры 193 · визы 176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69080"/>
            <a:ext cx="5440680" cy="11430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EFD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800600" cy="49377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1" i="0">
                <a:solidFill>
                  <a:srgbClr val="15243D"/>
                </a:solidFill>
                <a:latin typeface="Arial"/>
              </a:rPr>
              <a:t>24/7: почти половина обращений — вне рабочих часов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РЕАЛЬНЫЕ ДИАЛОГИ С ПРОДА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Почему бот отвечает как живой менеджер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218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22576"/>
            <a:ext cx="82296" cy="1207008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22576"/>
            <a:ext cx="470916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1" i="0">
                <a:solidFill>
                  <a:srgbClr val="15243D"/>
                </a:solidFill>
                <a:latin typeface="Arial"/>
              </a:rPr>
              <a:t>Ведёт до брони сам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61487"/>
            <a:ext cx="4754880" cy="8686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54637C"/>
                </a:solidFill>
                <a:latin typeface="Arial"/>
              </a:rPr>
              <a:t>«Хочу тур, Дубай, $3000» → бот подобрал отель в Шардже</a:t>
            </a:r>
          </a:p>
          <a:p>
            <a:r>
              <a:rPr sz="1250" b="0" i="0">
                <a:solidFill>
                  <a:srgbClr val="54637C"/>
                </a:solidFill>
                <a:latin typeface="Arial"/>
              </a:rPr>
              <a:t>с завтраком и записал в офис на 13:00. Без менеджера.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103120"/>
            <a:ext cx="53218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9088" y="2322576"/>
            <a:ext cx="82296" cy="1207008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7688" y="2322576"/>
            <a:ext cx="470916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1" i="0">
                <a:solidFill>
                  <a:srgbClr val="15243D"/>
                </a:solidFill>
                <a:latin typeface="Arial"/>
              </a:rPr>
              <a:t>Реальные цены, без выдумок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2761487"/>
            <a:ext cx="4754880" cy="8686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54637C"/>
                </a:solidFill>
                <a:latin typeface="Arial"/>
              </a:rPr>
              <a:t>Берёт живые цены из TourVisor. Отказывается называть</a:t>
            </a:r>
          </a:p>
          <a:p>
            <a:r>
              <a:rPr sz="1250" b="0" i="0">
                <a:solidFill>
                  <a:srgbClr val="54637C"/>
                </a:solidFill>
                <a:latin typeface="Arial"/>
              </a:rPr>
              <a:t>суммы наугад: «не хочу называть цену наугад» 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50208"/>
            <a:ext cx="53218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69664"/>
            <a:ext cx="82296" cy="1207008"/>
          </a:xfrm>
          <a:prstGeom prst="rect">
            <a:avLst/>
          </a:prstGeom>
          <a:solidFill>
            <a:srgbClr val="006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69664"/>
            <a:ext cx="470916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1" i="0">
                <a:solidFill>
                  <a:srgbClr val="15243D"/>
                </a:solidFill>
                <a:latin typeface="Arial"/>
              </a:rPr>
              <a:t>Говорит на языке клиента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608576"/>
            <a:ext cx="4754880" cy="8686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54637C"/>
                </a:solidFill>
                <a:latin typeface="Arial"/>
              </a:rPr>
              <a:t>Отвечает на кыргызском и узбекском так же свободно,</a:t>
            </a:r>
          </a:p>
          <a:p>
            <a:r>
              <a:rPr sz="1250" b="0" i="0">
                <a:solidFill>
                  <a:srgbClr val="54637C"/>
                </a:solidFill>
                <a:latin typeface="Arial"/>
              </a:rPr>
              <a:t>как на русском — «АКШга виза алууга жардам беребиз».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950208"/>
            <a:ext cx="53218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19088" y="4169664"/>
            <a:ext cx="82296" cy="1207008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4169664"/>
            <a:ext cx="470916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1" i="0">
                <a:solidFill>
                  <a:srgbClr val="15243D"/>
                </a:solidFill>
                <a:latin typeface="Arial"/>
              </a:rPr>
              <a:t>Мгновенно и круглосуточно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4608576"/>
            <a:ext cx="4754880" cy="8686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54637C"/>
                </a:solidFill>
                <a:latin typeface="Arial"/>
              </a:rPr>
              <a:t>Отвечает за секунды, ночью и днём — ни один горячий</a:t>
            </a:r>
          </a:p>
          <a:p>
            <a:r>
              <a:rPr sz="1250" b="0" i="0">
                <a:solidFill>
                  <a:srgbClr val="54637C"/>
                </a:solidFill>
                <a:latin typeface="Arial"/>
              </a:rPr>
              <a:t>лид не ждёт ответа до утра.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ТРИАЖ ЛИДОВ — 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Бот сам делит поток: где деньги, а где шум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56716" y="2057400"/>
            <a:ext cx="9875520" cy="84124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E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76756" y="2203704"/>
            <a:ext cx="14173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15243D"/>
                </a:solidFill>
                <a:latin typeface="Arial"/>
              </a:rPr>
              <a:t>230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1236" y="2221992"/>
            <a:ext cx="76352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15243D"/>
                </a:solidFill>
                <a:latin typeface="Arial"/>
              </a:rPr>
              <a:t>весь поток за 1-3 июля</a:t>
            </a:r>
          </a:p>
          <a:p>
            <a:r>
              <a:rPr sz="1350" b="0" i="0">
                <a:solidFill>
                  <a:srgbClr val="15243D"/>
                </a:solidFill>
                <a:latin typeface="Arial"/>
              </a:rPr>
              <a:t>все, кто написал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9696" y="3136391"/>
            <a:ext cx="7909560" cy="841248"/>
          </a:xfrm>
          <a:prstGeom prst="roundRect">
            <a:avLst/>
          </a:prstGeom>
          <a:solidFill>
            <a:srgbClr val="009C94"/>
          </a:solidFill>
          <a:ln w="12700">
            <a:solidFill>
              <a:srgbClr val="009C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9736" y="3282696"/>
            <a:ext cx="14173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4216" y="3300984"/>
            <a:ext cx="566928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FFFFFF"/>
                </a:solidFill>
                <a:latin typeface="Arial"/>
              </a:rPr>
              <a:t>бот довёл сам</a:t>
            </a:r>
          </a:p>
          <a:p>
            <a:r>
              <a:rPr sz="1350" b="0" i="0">
                <a:solidFill>
                  <a:srgbClr val="FFFFFF"/>
                </a:solidFill>
                <a:latin typeface="Arial"/>
              </a:rPr>
              <a:t>без передачи менеджеру (70%)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91256" y="4215383"/>
            <a:ext cx="5806440" cy="841248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12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4361688"/>
            <a:ext cx="14173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4379975"/>
            <a:ext cx="3566159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FFFFFF"/>
                </a:solidFill>
                <a:latin typeface="Arial"/>
              </a:rPr>
              <a:t>готовы платить</a:t>
            </a:r>
          </a:p>
          <a:p>
            <a:r>
              <a:rPr sz="1350" b="0" i="0">
                <a:solidFill>
                  <a:srgbClr val="FFFFFF"/>
                </a:solidFill>
                <a:latin typeface="Arial"/>
              </a:rPr>
              <a:t>бот выделил как горячих — им менеджер бегом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40680"/>
            <a:ext cx="11091672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100" b="0" i="0">
                <a:solidFill>
                  <a:srgbClr val="54637C"/>
                </a:solidFill>
                <a:latin typeface="Arial"/>
              </a:rPr>
              <a:t>Всю разметку бот делает сам, без единой ручной кнопки: 230 — поток, 74 — те, у кого деньги.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ПОЧЕМУ $20 ХВАТИЛО НА ВСЮ ГОРЯЧУЮ НЕДЕЛЮ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Куда ушли деньги на 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600" b="1" i="0">
                <a:solidFill>
                  <a:srgbClr val="15243D"/>
                </a:solidFill>
                <a:latin typeface="Arial"/>
              </a:rPr>
              <a:t>$15 (1 июля) + $5 (2 июля) = $20 отработали пик запуска: 1 956 ответов бота</a:t>
            </a:r>
          </a:p>
          <a:p>
            <a:r>
              <a:rPr sz="1600" b="1" i="0">
                <a:solidFill>
                  <a:srgbClr val="15243D"/>
                </a:solidFill>
                <a:latin typeface="Arial"/>
              </a:rPr>
              <a:t>на 369 диалогов. «Быстро» — потому что был вал трафика, а не потому что дорого.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5257800" cy="260604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27248"/>
            <a:ext cx="466344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000" b="1" i="0">
                <a:solidFill>
                  <a:srgbClr val="15243D"/>
                </a:solidFill>
                <a:latin typeface="Arial"/>
              </a:rPr>
              <a:t>На что ушли $20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81304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3703320"/>
            <a:ext cx="4361688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пик 2 июля — 752 ответа за день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6737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4057650"/>
            <a:ext cx="4361688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каждый ответ = 2–3 обращения к ИИ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52170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4411980"/>
            <a:ext cx="4361688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каждый раз перечитывается вся история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876038"/>
            <a:ext cx="109728" cy="109728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" y="4766310"/>
            <a:ext cx="4361688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работа круглосуточно, без выходных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977639"/>
            <a:ext cx="502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3000" b="1" i="0">
                <a:solidFill>
                  <a:srgbClr val="009C94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880360"/>
            <a:ext cx="5074920" cy="2606040"/>
          </a:xfrm>
          <a:prstGeom prst="roundRect">
            <a:avLst/>
          </a:prstGeom>
          <a:solidFill>
            <a:srgbClr val="E0F5F1"/>
          </a:solidFill>
          <a:ln w="12700">
            <a:solidFill>
              <a:srgbClr val="A9D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127248"/>
            <a:ext cx="448056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000" b="1" i="0">
                <a:solidFill>
                  <a:srgbClr val="15243D"/>
                </a:solidFill>
                <a:latin typeface="Arial"/>
              </a:rPr>
              <a:t>Это дёшево: ~1¢ на клиента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0" y="381304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4032" y="3703320"/>
            <a:ext cx="4178807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почти всё идёт на дешёвой модели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0" y="416737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4057650"/>
            <a:ext cx="4178807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~$30–50 в месяц при 100 чел/день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0" y="452170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14032" y="4411980"/>
            <a:ext cx="4178807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1 менеджер за смену — дороже в разы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0" y="4876038"/>
            <a:ext cx="109728" cy="109728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4032" y="4766310"/>
            <a:ext cx="4178807" cy="35433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лечится авто-пополнением баланса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ДВА ВНЕШНИХ СЕРВИСА = ТОПЛИВО БОТА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На чём работает бот — держим включённым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60704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1" i="0">
                <a:solidFill>
                  <a:srgbClr val="15243D"/>
                </a:solidFill>
                <a:latin typeface="Arial"/>
              </a:rPr>
              <a:t>Бот зависит от двух платных сервисов. Оба недавно отвалились — отсюда сбои. Оживают сами при оплате, деплой не нужен.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6040"/>
            <a:ext cx="52578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816352"/>
            <a:ext cx="82296" cy="2286000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34640"/>
            <a:ext cx="4663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1" i="0">
                <a:solidFill>
                  <a:srgbClr val="15243D"/>
                </a:solidFill>
                <a:latin typeface="Arial"/>
              </a:rPr>
              <a:t>OpenRouter — «мозг» бота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3493008"/>
            <a:ext cx="109728" cy="109728"/>
          </a:xfrm>
          <a:prstGeom prst="ellipse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6152" y="3383280"/>
            <a:ext cx="436168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через него бот думает и пишет ответы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3915918"/>
            <a:ext cx="109728" cy="109728"/>
          </a:xfrm>
          <a:prstGeom prst="ellipse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6152" y="3806190"/>
            <a:ext cx="436168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6 июля кончились деньги → «Секундочку» всем</a:t>
            </a:r>
          </a:p>
        </p:txBody>
      </p:sp>
      <p:sp>
        <p:nvSpPr>
          <p:cNvPr id="13" name="Oval 12"/>
          <p:cNvSpPr/>
          <p:nvPr/>
        </p:nvSpPr>
        <p:spPr>
          <a:xfrm>
            <a:off x="960120" y="4338828"/>
            <a:ext cx="109728" cy="109728"/>
          </a:xfrm>
          <a:prstGeom prst="ellipse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4229100"/>
            <a:ext cx="436168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~$30–50 в месяц при 100 чел/день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4761738"/>
            <a:ext cx="109728" cy="109728"/>
          </a:xfrm>
          <a:prstGeom prst="ellipse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6152" y="4652010"/>
            <a:ext cx="436168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решение: авто-пополнение баланса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06040"/>
            <a:ext cx="53492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28232" y="2816352"/>
            <a:ext cx="82296" cy="2286000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834640"/>
            <a:ext cx="475488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1" i="0">
                <a:solidFill>
                  <a:srgbClr val="15243D"/>
                </a:solidFill>
                <a:latin typeface="Arial"/>
              </a:rPr>
              <a:t>TourVisor — цены на туры</a:t>
            </a:r>
          </a:p>
        </p:txBody>
      </p:sp>
      <p:sp>
        <p:nvSpPr>
          <p:cNvPr id="20" name="Oval 19"/>
          <p:cNvSpPr/>
          <p:nvPr/>
        </p:nvSpPr>
        <p:spPr>
          <a:xfrm>
            <a:off x="6675120" y="3493008"/>
            <a:ext cx="109728" cy="109728"/>
          </a:xfrm>
          <a:prstGeom prst="ellipse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83280"/>
            <a:ext cx="445312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бот берёт отсюда живые цены отелей</a:t>
            </a:r>
          </a:p>
        </p:txBody>
      </p:sp>
      <p:sp>
        <p:nvSpPr>
          <p:cNvPr id="22" name="Oval 21"/>
          <p:cNvSpPr/>
          <p:nvPr/>
        </p:nvSpPr>
        <p:spPr>
          <a:xfrm>
            <a:off x="6675120" y="3915918"/>
            <a:ext cx="109728" cy="109728"/>
          </a:xfrm>
          <a:prstGeom prst="ellipse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806190"/>
            <a:ext cx="445312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3–6 июля подписка отвалилась → туры без цен</a:t>
            </a:r>
          </a:p>
        </p:txBody>
      </p:sp>
      <p:sp>
        <p:nvSpPr>
          <p:cNvPr id="24" name="Oval 23"/>
          <p:cNvSpPr/>
          <p:nvPr/>
        </p:nvSpPr>
        <p:spPr>
          <a:xfrm>
            <a:off x="6675120" y="4338828"/>
            <a:ext cx="109728" cy="109728"/>
          </a:xfrm>
          <a:prstGeom prst="ellipse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229100"/>
            <a:ext cx="445312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визы не затронуты, только туры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4761738"/>
            <a:ext cx="109728" cy="109728"/>
          </a:xfrm>
          <a:prstGeom prst="ellipse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652010"/>
            <a:ext cx="4453128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50" b="0" i="0">
                <a:solidFill>
                  <a:srgbClr val="54637C"/>
                </a:solidFill>
                <a:latin typeface="Arial"/>
              </a:rPr>
              <a:t>решение: держать подписку оплаченной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32120"/>
            <a:ext cx="11064240" cy="658368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EFD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6601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1" i="0">
                <a:solidFill>
                  <a:srgbClr val="15243D"/>
                </a:solidFill>
                <a:latin typeface="Arial"/>
              </a:rPr>
              <a:t>Отдельно решить: что показывать клиенту по отелю — фото (рекомендуем) / ссылку / ничего. Прямая ссылка на TourVisor светит закупочную цену.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ДЕНЬГИ ТОНУТ В ШУМЕ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Проблема владельца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9052560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Из 100 обращений в день реальные деньги — 15–20.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44368"/>
            <a:ext cx="813816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700" b="0" i="0">
                <a:solidFill>
                  <a:srgbClr val="54637C"/>
                </a:solidFill>
                <a:latin typeface="Arial"/>
              </a:rPr>
              <a:t>Горячий клиент теряется в общей куче, менеджер видит его слишком поздно.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977639"/>
            <a:ext cx="3063240" cy="1234440"/>
          </a:xfrm>
          <a:prstGeom prst="roundRect">
            <a:avLst/>
          </a:prstGeom>
          <a:solidFill>
            <a:srgbClr val="E0F5F1"/>
          </a:solidFill>
          <a:ln w="12700">
            <a:solidFill>
              <a:srgbClr val="B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24528"/>
            <a:ext cx="25146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800" b="1" i="0">
                <a:solidFill>
                  <a:srgbClr val="009C94"/>
                </a:solidFill>
                <a:latin typeface="Arial"/>
              </a:rPr>
              <a:t>15–20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45152"/>
            <a:ext cx="2514600" cy="23774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1" i="0">
                <a:solidFill>
                  <a:srgbClr val="15243D"/>
                </a:solidFill>
                <a:latin typeface="Arial"/>
              </a:rPr>
              <a:t>клиентов с деньгами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3977639"/>
            <a:ext cx="3063240" cy="123444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4224528"/>
            <a:ext cx="25146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800" b="1" i="0">
                <a:solidFill>
                  <a:srgbClr val="8A95A3"/>
                </a:solidFill>
                <a:latin typeface="Arial"/>
              </a:rPr>
              <a:t>80+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645152"/>
            <a:ext cx="2514600" cy="23774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1" i="0">
                <a:solidFill>
                  <a:srgbClr val="15243D"/>
                </a:solidFill>
                <a:latin typeface="Arial"/>
              </a:rPr>
              <a:t>шум и праздный спрос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977639"/>
            <a:ext cx="3566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315968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1">
                <a:solidFill>
                  <a:srgbClr val="15243D"/>
                </a:solidFill>
                <a:latin typeface="Arial"/>
              </a:rPr>
              <a:t>«Видеть 12 с деньгами, а не читать 100 чатов»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КАЖДЫЙ КЛИЕНТ ПОЛУЧАЕТ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Решение: светофор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342900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633472"/>
            <a:ext cx="3099816" cy="146304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3090672"/>
            <a:ext cx="621792" cy="621792"/>
          </a:xfrm>
          <a:prstGeom prst="ellipse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858768"/>
            <a:ext cx="278892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900" b="1" i="0">
                <a:solidFill>
                  <a:srgbClr val="15243D"/>
                </a:solidFill>
                <a:latin typeface="Arial"/>
              </a:rPr>
              <a:t>Горячий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370832"/>
            <a:ext cx="2788920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54637C"/>
                </a:solidFill>
                <a:latin typeface="Arial"/>
              </a:rPr>
              <a:t>даты + бюджет → менеджеру с резюме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230368"/>
            <a:ext cx="3099816" cy="73152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423160"/>
            <a:ext cx="342900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7992" y="2633472"/>
            <a:ext cx="3099816" cy="146304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90872" y="3090672"/>
            <a:ext cx="621792" cy="621792"/>
          </a:xfrm>
          <a:prstGeom prst="ellipse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3858768"/>
            <a:ext cx="278892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900" b="1" i="0">
                <a:solidFill>
                  <a:srgbClr val="15243D"/>
                </a:solidFill>
                <a:latin typeface="Arial"/>
              </a:rPr>
              <a:t>Тёплый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4370832"/>
            <a:ext cx="2788920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54637C"/>
                </a:solidFill>
                <a:latin typeface="Arial"/>
              </a:rPr>
              <a:t>думает → бот сам напоминает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5230368"/>
            <a:ext cx="3099816" cy="73152"/>
          </a:xfrm>
          <a:prstGeom prst="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423160"/>
            <a:ext cx="342900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2633472"/>
            <a:ext cx="3099816" cy="146304"/>
          </a:xfrm>
          <a:prstGeom prst="rect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85632" y="3090672"/>
            <a:ext cx="621792" cy="621792"/>
          </a:xfrm>
          <a:prstGeom prst="ellipse">
            <a:avLst/>
          </a:prstGeom>
          <a:solidFill>
            <a:srgbClr val="8A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5632" y="3858768"/>
            <a:ext cx="2788920" cy="32918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900" b="1" i="0">
                <a:solidFill>
                  <a:srgbClr val="15243D"/>
                </a:solidFill>
                <a:latin typeface="Arial"/>
              </a:rPr>
              <a:t>Просто спросил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4370832"/>
            <a:ext cx="2788920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00" b="0" i="0">
                <a:solidFill>
                  <a:srgbClr val="54637C"/>
                </a:solidFill>
                <a:latin typeface="Arial"/>
              </a:rPr>
              <a:t>бот отвечает сам, менеджеров не трогает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5230368"/>
            <a:ext cx="3099816" cy="73152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B7CCD3"/>
                </a:solidFill>
                <a:latin typeface="Arial"/>
              </a:rPr>
              <a:t>УЖЕ РАБОТАЕТ НА ПРОДЕ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Панель владельца «Покупатели сегодня»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469880" cy="3611880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2A56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04288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000" b="1" i="0">
                <a:solidFill>
                  <a:srgbClr val="FFFFFF"/>
                </a:solidFill>
                <a:latin typeface="Arial"/>
              </a:rPr>
              <a:t>Бот уже разметил поток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43200"/>
            <a:ext cx="603504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50" b="0" i="0">
                <a:solidFill>
                  <a:srgbClr val="B7CCD3"/>
                </a:solidFill>
                <a:latin typeface="Arial"/>
              </a:rPr>
              <a:t>деньги за 5 секунд, а не 100 чатов — размечено само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8992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009C94"/>
                </a:solidFill>
                <a:latin typeface="Arial"/>
              </a:rPr>
              <a:t>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готовых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платить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F5B440"/>
                </a:solidFill>
                <a:latin typeface="Arial"/>
              </a:rPr>
              <a:t>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тёплых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бот дожимает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8A95A3"/>
                </a:solidFill>
                <a:latin typeface="Arial"/>
              </a:rP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шум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отсеян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0496" y="3310128"/>
            <a:ext cx="2148840" cy="1417320"/>
          </a:xfrm>
          <a:prstGeom prst="roundRect">
            <a:avLst/>
          </a:prstGeom>
          <a:solidFill>
            <a:srgbClr val="183B52"/>
          </a:solidFill>
          <a:ln w="12700">
            <a:solidFill>
              <a:srgbClr val="375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05088" y="3547872"/>
            <a:ext cx="1664208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2400" b="1" i="0">
                <a:solidFill>
                  <a:srgbClr val="FFFFFF"/>
                </a:solidFill>
                <a:latin typeface="Arial"/>
              </a:rPr>
              <a:t>сам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977639"/>
            <a:ext cx="1664208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FFFFFF"/>
                </a:solidFill>
                <a:latin typeface="Arial"/>
              </a:rPr>
              <a:t>без ручных</a:t>
            </a:r>
          </a:p>
          <a:p>
            <a:r>
              <a:rPr sz="1250" b="0" i="0">
                <a:solidFill>
                  <a:srgbClr val="FFFFFF"/>
                </a:solidFill>
                <a:latin typeface="Arial"/>
              </a:rPr>
              <a:t>кнопок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010912"/>
            <a:ext cx="969264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50" b="0" i="0">
                <a:solidFill>
                  <a:srgbClr val="B7CCD3"/>
                </a:solidFill>
                <a:latin typeface="Arial"/>
              </a:rPr>
              <a:t>уже работает: бот сам метит горячих/тёплых/шум и даже исход диалога (оплатил/отказ/пропал)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B7CCD3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B7CCD3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РЕЗУЛЬТАТ ДЛЯ БИЗНЕСА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Что изменится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50008"/>
            <a:ext cx="73152" cy="91440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Больше оплат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07208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из того же входящего потока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28231" y="2350008"/>
            <a:ext cx="73152" cy="914400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7688" y="23774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Менеджеры на деньгах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2807208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Адеми, Сезим, Медина, Элиза не перелопачивают шум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77639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78807"/>
            <a:ext cx="73152" cy="91440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2062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Репутация цела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36007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даже простому вопросу отвечают тепло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977639"/>
            <a:ext cx="5349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28231" y="4178807"/>
            <a:ext cx="73152" cy="914400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4206240"/>
            <a:ext cx="461772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Владелец видит бизнес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4636007"/>
            <a:ext cx="46177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450" b="0" i="0">
                <a:solidFill>
                  <a:srgbClr val="54637C"/>
                </a:solidFill>
                <a:latin typeface="Arial"/>
              </a:rPr>
              <a:t>не 100 чатов, а очередь возможностей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ЧЕСТНЫЕ МЕТРИКИ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Как поймём, что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7889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Время реакции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493008"/>
            <a:ext cx="1234440" cy="73152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840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50" b="0" i="0">
                <a:solidFill>
                  <a:srgbClr val="54637C"/>
                </a:solidFill>
                <a:latin typeface="Arial"/>
              </a:rPr>
              <a:t>на горячего: минуты, не часы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514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7889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Конверсия в оплату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493008"/>
            <a:ext cx="1234440" cy="73152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840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50" b="0" i="0">
                <a:solidFill>
                  <a:srgbClr val="54637C"/>
                </a:solidFill>
                <a:latin typeface="Arial"/>
              </a:rPr>
              <a:t>каждый диалог получает исход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514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880360"/>
            <a:ext cx="278892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Горячих в день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3493008"/>
            <a:ext cx="1234440" cy="73152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278892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550" b="0" i="0">
                <a:solidFill>
                  <a:srgbClr val="54637C"/>
                </a:solidFill>
                <a:latin typeface="Arial"/>
              </a:rPr>
              <a:t>сколько бот выделил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978408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Главный вопрос: стало ли больше оплат из того же потока.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3 РЕШЕНИЯ — И БОТ ИДЁТ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Что решаем на встрече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96312"/>
            <a:ext cx="3063240" cy="128016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788920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600" b="1" i="0">
                <a:solidFill>
                  <a:srgbClr val="15243D"/>
                </a:solidFill>
                <a:latin typeface="Arial"/>
              </a:rPr>
              <a:t>Bitrix: куда бот пишет?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2834640" cy="10515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54637C"/>
                </a:solidFill>
                <a:latin typeface="Arial"/>
              </a:rPr>
              <a:t>Лиды или сразу Сделки? Ваши воронки начинаются после оплаты, а бот работает до неё.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572000"/>
            <a:ext cx="109728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81728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00" b="1" i="0">
                <a:solidFill>
                  <a:srgbClr val="15243D"/>
                </a:solidFill>
                <a:latin typeface="Arial"/>
              </a:rPr>
              <a:t>Совет: бот создаёт Лид, менеджер конвертит в Сделку после оплаты.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28600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496312"/>
            <a:ext cx="3063240" cy="128016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788920"/>
            <a:ext cx="2788920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600" b="1" i="0">
                <a:solidFill>
                  <a:srgbClr val="15243D"/>
                </a:solidFill>
                <a:latin typeface="Arial"/>
              </a:rPr>
              <a:t>Что показывать по отелю?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429000"/>
            <a:ext cx="2834640" cy="10515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54637C"/>
                </a:solidFill>
                <a:latin typeface="Arial"/>
              </a:rPr>
              <a:t>Фото / ссылка / ничего. Прямая ссылка на TourVisor светит вашу закупочную цену.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572000"/>
            <a:ext cx="1097280" cy="54864"/>
          </a:xfrm>
          <a:prstGeom prst="rect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681728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00" b="1" i="0">
                <a:solidFill>
                  <a:srgbClr val="15243D"/>
                </a:solidFill>
                <a:latin typeface="Arial"/>
              </a:rPr>
              <a:t>Совет: показывать фото отеля — наглядно и не палит источник.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28600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496312"/>
            <a:ext cx="3063240" cy="128016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788920"/>
            <a:ext cx="2788920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600" b="1" i="0">
                <a:solidFill>
                  <a:srgbClr val="15243D"/>
                </a:solidFill>
                <a:latin typeface="Arial"/>
              </a:rPr>
              <a:t>«Проблемный клиент» — кто?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429000"/>
            <a:ext cx="2834640" cy="10515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50" b="0" i="0">
                <a:solidFill>
                  <a:srgbClr val="54637C"/>
                </a:solidFill>
                <a:latin typeface="Arial"/>
              </a:rPr>
              <a:t>По ТЗ бот зовёт таких в офис, а не дожимает. Но критерии вы пока не задали.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4572000"/>
            <a:ext cx="1097280" cy="54864"/>
          </a:xfrm>
          <a:prstGeom prst="rect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4681728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200" b="1" i="0">
                <a:solidFill>
                  <a:srgbClr val="15243D"/>
                </a:solidFill>
                <a:latin typeface="Arial"/>
              </a:rPr>
              <a:t>Нужно от вас: по каким признакам вести в офис, а не дожимать?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3 ВЕЩИ, КОТОРЫЕ РАЗБЛОКИРУЮТ СЛЕДУЮЩИЙ СКАЧОК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Что нужно от вас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1091672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2395728"/>
            <a:ext cx="457200" cy="457200"/>
          </a:xfrm>
          <a:prstGeom prst="ellipse">
            <a:avLst/>
          </a:prstGeom>
          <a:solidFill>
            <a:srgbClr val="DE4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94560"/>
            <a:ext cx="96926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Каталог рекламных постов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15184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Ссылка на пост → страна / оффер / цена. Тогда бот сразу отвечает по делу (79% клиентов идут с рекламы), и мы считаем, какого трафика больше.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11091672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767328"/>
            <a:ext cx="457200" cy="457200"/>
          </a:xfrm>
          <a:prstGeom prst="ellipse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84048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66160"/>
            <a:ext cx="96926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Заполнить анкету менеджерам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86784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32 вопроса из реальных диалогов (Адеми, Сезим — туры; Медина, Элиза — визы). Ответы вошьём в бота — он станет отвечать точнее и без выдумок.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11091672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59" y="5138928"/>
            <a:ext cx="457200" cy="457200"/>
          </a:xfrm>
          <a:prstGeom prst="ellipse">
            <a:avLst/>
          </a:prstGeom>
          <a:solidFill>
            <a:srgbClr val="F5B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521208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937760"/>
            <a:ext cx="96926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800" b="1" i="0">
                <a:solidFill>
                  <a:srgbClr val="15243D"/>
                </a:solidFill>
                <a:latin typeface="Arial"/>
              </a:rPr>
              <a:t>Держать оплаченными 2 сервиса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58384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300" b="0" i="0">
                <a:solidFill>
                  <a:srgbClr val="54637C"/>
                </a:solidFill>
                <a:latin typeface="Arial"/>
              </a:rPr>
              <a:t>OpenRouter (ИИ) и TourVisor (цены на туры). Лучше авто-пополнение — чтобы бот не вставал молча, как это было 6 июля.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530352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100" b="1" i="0">
                <a:solidFill>
                  <a:srgbClr val="009C94"/>
                </a:solidFill>
                <a:latin typeface="Arial"/>
              </a:rPr>
              <a:t>Суть в одном предложении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0561320" cy="21488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Бот становится фильтром: пропускает шум через себя, а вам подаёт людей с деньгами — вовремя и с сохранённой репутацией.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251960"/>
            <a:ext cx="5852160" cy="1051560"/>
          </a:xfrm>
          <a:prstGeom prst="roundRect">
            <a:avLst/>
          </a:prstGeom>
          <a:solidFill>
            <a:srgbClr val="122D42"/>
          </a:solidFill>
          <a:ln w="12700">
            <a:solidFill>
              <a:srgbClr val="2A56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4535424"/>
            <a:ext cx="51663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600" b="1" i="0">
                <a:solidFill>
                  <a:srgbClr val="FFFFFF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25312"/>
            <a:ext cx="10058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B7CCD3"/>
                </a:solidFill>
                <a:latin typeface="Arial"/>
              </a:rPr>
              <a:t>Данные из рабочей базы за 1–5 июля 2026. Панель «Покупатели сегодня» уже работает на проде.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00" b="1" i="0">
                <a:solidFill>
                  <a:srgbClr val="00676D"/>
                </a:solidFill>
                <a:latin typeface="Arial"/>
              </a:rPr>
              <a:t>РЕАЛЬНЫЕ ДАННЫЕ ИЗ ПРОДА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966960" cy="6583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3200" b="1" i="0">
                <a:solidFill>
                  <a:srgbClr val="15243D"/>
                </a:solidFill>
                <a:latin typeface="Arial"/>
              </a:rPr>
              <a:t>Сколько людей писали и сколько бот ответил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27632"/>
            <a:ext cx="2148840" cy="54864"/>
          </a:xfrm>
          <a:prstGeom prst="rect">
            <a:avLst/>
          </a:prstGeom>
          <a:solidFill>
            <a:srgbClr val="009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47088"/>
          <a:ext cx="11091672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  <a:gridCol w="3429000"/>
                <a:gridCol w="3913632"/>
              </a:tblGrid>
              <a:tr h="51206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День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Новых диалогов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Сообщений клиентов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Ответов бота</a:t>
                      </a:r>
                    </a:p>
                  </a:txBody>
                  <a:tcPr marL="45720" marR="45720" marT="18288" marB="18288">
                    <a:solidFill>
                      <a:srgbClr val="122D42"/>
                    </a:solidFill>
                  </a:tcPr>
                </a:tc>
              </a:tr>
              <a:tr h="51206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05.07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04.07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</a:tr>
              <a:tr h="51206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03.07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02.07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45720" marR="45720" marT="18288" marB="18288">
                    <a:solidFill>
                      <a:srgbClr val="EEF2F6"/>
                    </a:solidFill>
                  </a:tcPr>
                </a:tc>
              </a:tr>
              <a:tr h="51206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01.07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50" b="0" i="0">
                          <a:solidFill>
                            <a:srgbClr val="15243D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ВСЕГО с 1 июля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369 диалогов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2649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00" b="1" i="0">
                          <a:solidFill>
                            <a:srgbClr val="15243D"/>
                          </a:solidFill>
                          <a:latin typeface="Arial"/>
                        </a:rPr>
                        <a:t>1956 ответов</a:t>
                      </a:r>
                    </a:p>
                  </a:txBody>
                  <a:tcPr marL="45720" marR="45720" marT="18288" marB="18288">
                    <a:solidFill>
                      <a:srgbClr val="FFF4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59552"/>
            <a:ext cx="11091672" cy="34747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1050" b="0" i="0">
                <a:solidFill>
                  <a:srgbClr val="54637C"/>
                </a:solidFill>
                <a:latin typeface="Arial"/>
              </a:rPr>
              <a:t>Бот в боевом режиме с 1 июля — отвечает 24/7, почти половина обращений приходит вне рабочих часов.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566928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r>
              <a:rPr sz="850" b="0" i="0">
                <a:solidFill>
                  <a:srgbClr val="54637C"/>
                </a:solidFill>
                <a:latin typeface="Arial"/>
              </a:rPr>
              <a:t>Frunze Travel · GetVisa · Бишкек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062472"/>
            <a:ext cx="6858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850" b="1" i="0">
                <a:solidFill>
                  <a:srgbClr val="54637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