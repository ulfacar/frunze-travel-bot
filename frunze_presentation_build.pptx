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09728" cy="5440680"/>
          </a:xfrm>
          <a:prstGeom prst="rect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115568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500" b="1" i="0">
                <a:solidFill>
                  <a:srgbClr val="009C94"/>
                </a:solidFill>
                <a:latin typeface="Arial"/>
              </a:rPr>
              <a:t>Frunze Travel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8138160" cy="13258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400" b="1" i="0">
                <a:solidFill>
                  <a:srgbClr val="FFFFFF"/>
                </a:solidFill>
                <a:latin typeface="Arial"/>
              </a:rPr>
              <a:t>Frunze Travel —</a:t>
            </a:r>
          </a:p>
          <a:p>
            <a:r>
              <a:rPr sz="3400" b="1" i="0">
                <a:solidFill>
                  <a:srgbClr val="FFFFFF"/>
                </a:solidFill>
                <a:latin typeface="Arial"/>
              </a:rPr>
              <a:t>следующий шаг 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3429000"/>
            <a:ext cx="7680960" cy="8229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800" b="0" i="0">
                <a:solidFill>
                  <a:srgbClr val="B7CCD3"/>
                </a:solidFill>
                <a:latin typeface="Arial"/>
              </a:rPr>
              <a:t>Из потока в 100 сообщений в день — в понятную очередь клиентов с деньгами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417320"/>
            <a:ext cx="2697480" cy="3429000"/>
          </a:xfrm>
          <a:prstGeom prst="roundRect">
            <a:avLst/>
          </a:prstGeom>
          <a:solidFill>
            <a:srgbClr val="122D42"/>
          </a:solidFill>
          <a:ln w="12700">
            <a:solidFill>
              <a:srgbClr val="2A5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87968" y="1783080"/>
            <a:ext cx="2011680" cy="43891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600" b="1" i="0">
                <a:solidFill>
                  <a:srgbClr val="FFFFFF"/>
                </a:solidFill>
                <a:latin typeface="Arial"/>
              </a:rPr>
              <a:t>515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359152"/>
            <a:ext cx="2011680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500" b="0" i="0">
                <a:solidFill>
                  <a:srgbClr val="B7CCD3"/>
                </a:solidFill>
                <a:latin typeface="Arial"/>
              </a:rPr>
              <a:t>реальных</a:t>
            </a:r>
          </a:p>
          <a:p>
            <a:r>
              <a:rPr sz="1500" b="0" i="0">
                <a:solidFill>
                  <a:srgbClr val="B7CCD3"/>
                </a:solidFill>
                <a:latin typeface="Arial"/>
              </a:rPr>
              <a:t>диалогов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3337560"/>
            <a:ext cx="2011680" cy="43891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600" b="1" i="0">
                <a:solidFill>
                  <a:srgbClr val="009C94"/>
                </a:solidFill>
                <a:latin typeface="Arial"/>
              </a:rPr>
              <a:t>98,4%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3913632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500" b="0" i="0">
                <a:solidFill>
                  <a:srgbClr val="B7CCD3"/>
                </a:solidFill>
                <a:latin typeface="Arial"/>
              </a:rPr>
              <a:t>бот провёл сам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016752"/>
            <a:ext cx="530352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950" b="0" i="0">
                <a:solidFill>
                  <a:srgbClr val="B7CCD3"/>
                </a:solidFill>
                <a:latin typeface="Arial"/>
              </a:rPr>
              <a:t>Frunze Travel · GetVisa · Бишкек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000" b="1" i="0">
                <a:solidFill>
                  <a:srgbClr val="00676D"/>
                </a:solidFill>
                <a:latin typeface="Arial"/>
              </a:rPr>
              <a:t>РЕАЛЬНЫЕ ДАННЫЕ ИЗ WHATSAPP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9966960" cy="6583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200" b="1" i="0">
                <a:solidFill>
                  <a:srgbClr val="15243D"/>
                </a:solidFill>
                <a:latin typeface="Arial"/>
              </a:rPr>
              <a:t>Что бот уже делает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2148840" cy="54864"/>
          </a:xfrm>
          <a:prstGeom prst="rect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254203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267712"/>
            <a:ext cx="205740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000" b="1" i="0">
                <a:solidFill>
                  <a:srgbClr val="009C94"/>
                </a:solidFill>
                <a:latin typeface="Arial"/>
              </a:rPr>
              <a:t>503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057400" cy="47548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300" b="0" i="0">
                <a:solidFill>
                  <a:srgbClr val="54637C"/>
                </a:solidFill>
                <a:latin typeface="Arial"/>
              </a:rPr>
              <a:t>человека написали</a:t>
            </a:r>
          </a:p>
          <a:p>
            <a:r>
              <a:rPr sz="1300" b="0" i="0">
                <a:solidFill>
                  <a:srgbClr val="54637C"/>
                </a:solidFill>
                <a:latin typeface="Arial"/>
              </a:rPr>
              <a:t>35–100 новых/день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2057400"/>
            <a:ext cx="254203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267712"/>
            <a:ext cx="205740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000" b="1" i="0">
                <a:solidFill>
                  <a:srgbClr val="00676D"/>
                </a:solidFill>
                <a:latin typeface="Arial"/>
              </a:rPr>
              <a:t>4122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88920"/>
            <a:ext cx="2057400" cy="47548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300" b="0" i="0">
                <a:solidFill>
                  <a:srgbClr val="54637C"/>
                </a:solidFill>
                <a:latin typeface="Arial"/>
              </a:rPr>
              <a:t>сообщения</a:t>
            </a:r>
          </a:p>
          <a:p>
            <a:r>
              <a:rPr sz="1300" b="0" i="0">
                <a:solidFill>
                  <a:srgbClr val="54637C"/>
                </a:solidFill>
                <a:latin typeface="Arial"/>
              </a:rPr>
              <a:t>обработано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057400"/>
            <a:ext cx="254203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2267712"/>
            <a:ext cx="205740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000" b="1" i="0">
                <a:solidFill>
                  <a:srgbClr val="F5B440"/>
                </a:solidFill>
                <a:latin typeface="Arial"/>
              </a:rPr>
              <a:t>1209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788920"/>
            <a:ext cx="2057400" cy="47548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300" b="0" i="0">
                <a:solidFill>
                  <a:srgbClr val="54637C"/>
                </a:solidFill>
                <a:latin typeface="Arial"/>
              </a:rPr>
              <a:t>ответов бота</a:t>
            </a:r>
          </a:p>
          <a:p>
            <a:r>
              <a:rPr sz="1300" b="0" i="0">
                <a:solidFill>
                  <a:srgbClr val="54637C"/>
                </a:solidFill>
                <a:latin typeface="Arial"/>
              </a:rPr>
              <a:t>клиентам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2057400"/>
            <a:ext cx="254203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8864" y="2267712"/>
            <a:ext cx="205740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000" b="1" i="0">
                <a:solidFill>
                  <a:srgbClr val="DE4A4D"/>
                </a:solidFill>
                <a:latin typeface="Arial"/>
              </a:rPr>
              <a:t>98,4%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4" y="2788920"/>
            <a:ext cx="2057400" cy="47548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300" b="0" i="0">
                <a:solidFill>
                  <a:srgbClr val="54637C"/>
                </a:solidFill>
                <a:latin typeface="Arial"/>
              </a:rPr>
              <a:t>диалогов бот</a:t>
            </a:r>
          </a:p>
          <a:p>
            <a:r>
              <a:rPr sz="1300" b="0" i="0">
                <a:solidFill>
                  <a:srgbClr val="54637C"/>
                </a:solidFill>
                <a:latin typeface="Arial"/>
              </a:rPr>
              <a:t>провёл сам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69080"/>
            <a:ext cx="5303520" cy="1143000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B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15968"/>
            <a:ext cx="480060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800" b="1" i="0">
                <a:solidFill>
                  <a:srgbClr val="15243D"/>
                </a:solidFill>
                <a:latin typeface="Arial"/>
              </a:rPr>
              <a:t>Туры 338 · визы 176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069080"/>
            <a:ext cx="5440680" cy="1143000"/>
          </a:xfrm>
          <a:prstGeom prst="roundRect">
            <a:avLst/>
          </a:prstGeom>
          <a:solidFill>
            <a:srgbClr val="FFF4DA"/>
          </a:solidFill>
          <a:ln w="12700">
            <a:solidFill>
              <a:srgbClr val="EFD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79392"/>
            <a:ext cx="4800600" cy="49377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600" b="1" i="0">
                <a:solidFill>
                  <a:srgbClr val="15243D"/>
                </a:solidFill>
                <a:latin typeface="Arial"/>
              </a:rPr>
              <a:t>24/7: половина обращений вне рабочих часов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62472"/>
            <a:ext cx="566928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850" b="0" i="0">
                <a:solidFill>
                  <a:srgbClr val="54637C"/>
                </a:solidFill>
                <a:latin typeface="Arial"/>
              </a:rPr>
              <a:t>Frunze Travel · GetVisa · Бишкек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062472"/>
            <a:ext cx="6858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850" b="1" i="0">
                <a:solidFill>
                  <a:srgbClr val="54637C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000" b="1" i="0">
                <a:solidFill>
                  <a:srgbClr val="00676D"/>
                </a:solidFill>
                <a:latin typeface="Arial"/>
              </a:rPr>
              <a:t>ГРАДАЦИЯ ВОВЛЕЧЁННОСТИ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9966960" cy="6583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200" b="1" i="0">
                <a:solidFill>
                  <a:srgbClr val="15243D"/>
                </a:solidFill>
                <a:latin typeface="Arial"/>
              </a:rPr>
              <a:t>Честно: сколько из них реальные, а не случайные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2148840" cy="54864"/>
          </a:xfrm>
          <a:prstGeom prst="rect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56716" y="2057400"/>
            <a:ext cx="9875520" cy="84124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EE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76756" y="2203704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000" b="1" i="0">
                <a:solidFill>
                  <a:srgbClr val="15243D"/>
                </a:solidFill>
                <a:latin typeface="Arial"/>
              </a:rPr>
              <a:t>503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1236" y="2221992"/>
            <a:ext cx="7635240" cy="43891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350" b="0" i="0">
                <a:solidFill>
                  <a:srgbClr val="15243D"/>
                </a:solidFill>
                <a:latin typeface="Arial"/>
              </a:rPr>
              <a:t>написали хоть раз</a:t>
            </a:r>
          </a:p>
          <a:p>
            <a:r>
              <a:rPr sz="1350" b="0" i="0">
                <a:solidFill>
                  <a:srgbClr val="15243D"/>
                </a:solidFill>
                <a:latin typeface="Arial"/>
              </a:rPr>
              <a:t>весь поток, включая «спросил и ушёл»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9696" y="3136391"/>
            <a:ext cx="7909560" cy="841248"/>
          </a:xfrm>
          <a:prstGeom prst="roundRect">
            <a:avLst/>
          </a:prstGeom>
          <a:solidFill>
            <a:srgbClr val="009C94"/>
          </a:solidFill>
          <a:ln w="12700">
            <a:solidFill>
              <a:srgbClr val="00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9736" y="3282696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000" b="1" i="0">
                <a:solidFill>
                  <a:srgbClr val="FFFFFF"/>
                </a:solidFill>
                <a:latin typeface="Arial"/>
              </a:rPr>
              <a:t>332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4216" y="3300984"/>
            <a:ext cx="5669280" cy="43891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350" b="0" i="0">
                <a:solidFill>
                  <a:srgbClr val="FFFFFF"/>
                </a:solidFill>
                <a:latin typeface="Arial"/>
              </a:rPr>
              <a:t>реальный диалог</a:t>
            </a:r>
          </a:p>
          <a:p>
            <a:r>
              <a:rPr sz="1350" b="0" i="0">
                <a:solidFill>
                  <a:srgbClr val="FFFFFF"/>
                </a:solidFill>
                <a:latin typeface="Arial"/>
              </a:rPr>
              <a:t>2+ сообщения — реально пообщались с ботом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91256" y="4215383"/>
            <a:ext cx="5806440" cy="841248"/>
          </a:xfrm>
          <a:prstGeom prst="roundRect">
            <a:avLst/>
          </a:prstGeom>
          <a:solidFill>
            <a:srgbClr val="122D42"/>
          </a:solidFill>
          <a:ln w="12700">
            <a:solidFill>
              <a:srgbClr val="12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4361688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000" b="1" i="0">
                <a:solidFill>
                  <a:srgbClr val="FFFFFF"/>
                </a:solidFill>
                <a:latin typeface="Arial"/>
              </a:rPr>
              <a:t>232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5776" y="4379975"/>
            <a:ext cx="3566159" cy="43891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350" b="0" i="0">
                <a:solidFill>
                  <a:srgbClr val="FFFFFF"/>
                </a:solidFill>
                <a:latin typeface="Arial"/>
              </a:rPr>
              <a:t>вовлечённые</a:t>
            </a:r>
          </a:p>
          <a:p>
            <a:r>
              <a:rPr sz="1350" b="0" i="0">
                <a:solidFill>
                  <a:srgbClr val="FFFFFF"/>
                </a:solidFill>
                <a:latin typeface="Arial"/>
              </a:rPr>
              <a:t>4+ сообщения — плотно общались по турам/визам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11091672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100" b="0" i="0">
                <a:solidFill>
                  <a:srgbClr val="54637C"/>
                </a:solidFill>
                <a:latin typeface="Arial"/>
              </a:rPr>
              <a:t>И всё это бот вёл сам, без менеджеров. 503 — это поток, 232 — те, кто реально в разговоре.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62472"/>
            <a:ext cx="566928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850" b="0" i="0">
                <a:solidFill>
                  <a:srgbClr val="54637C"/>
                </a:solidFill>
                <a:latin typeface="Arial"/>
              </a:rPr>
              <a:t>Frunze Travel · GetVisa · Бишкек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062472"/>
            <a:ext cx="6858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850" b="1" i="0">
                <a:solidFill>
                  <a:srgbClr val="54637C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000" b="1" i="0">
                <a:solidFill>
                  <a:srgbClr val="00676D"/>
                </a:solidFill>
                <a:latin typeface="Arial"/>
              </a:rPr>
              <a:t>ПОЧЕМУ ~$15 В ДЕНЬ — ЭТО НОРМАЛЬНО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9966960" cy="6583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200" b="1" i="0">
                <a:solidFill>
                  <a:srgbClr val="15243D"/>
                </a:solidFill>
                <a:latin typeface="Arial"/>
              </a:rPr>
              <a:t>Откуда брался расход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2148840" cy="54864"/>
          </a:xfrm>
          <a:prstGeom prst="rect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042416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800" b="1" i="0">
                <a:solidFill>
                  <a:srgbClr val="15243D"/>
                </a:solidFill>
                <a:latin typeface="Arial"/>
              </a:rPr>
              <a:t>Деньги уходили не из-за сбоя: бот реально много работал на дорогой модели.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97480"/>
            <a:ext cx="4892040" cy="269748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411480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2200" b="1" i="0">
                <a:solidFill>
                  <a:srgbClr val="15243D"/>
                </a:solidFill>
                <a:latin typeface="Arial"/>
              </a:rPr>
              <a:t>Было ~$15/день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721608"/>
            <a:ext cx="109728" cy="109728"/>
          </a:xfrm>
          <a:prstGeom prst="ellipse">
            <a:avLst/>
          </a:prstGeom>
          <a:solidFill>
            <a:srgbClr val="8A9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3611880"/>
            <a:ext cx="3904487" cy="30861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450" b="0" i="0">
                <a:solidFill>
                  <a:srgbClr val="54637C"/>
                </a:solidFill>
                <a:latin typeface="Arial"/>
              </a:rPr>
              <a:t>674+ ответов в день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030218"/>
            <a:ext cx="109728" cy="109728"/>
          </a:xfrm>
          <a:prstGeom prst="ellipse">
            <a:avLst/>
          </a:prstGeom>
          <a:solidFill>
            <a:srgbClr val="8A9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3920490"/>
            <a:ext cx="3904487" cy="30861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450" b="0" i="0">
                <a:solidFill>
                  <a:srgbClr val="54637C"/>
                </a:solidFill>
                <a:latin typeface="Arial"/>
              </a:rPr>
              <a:t>дорогая модель на всём потоке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38828"/>
            <a:ext cx="109728" cy="109728"/>
          </a:xfrm>
          <a:prstGeom prst="ellipse">
            <a:avLst/>
          </a:prstGeom>
          <a:solidFill>
            <a:srgbClr val="8A9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4229100"/>
            <a:ext cx="3904487" cy="30861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450" b="0" i="0">
                <a:solidFill>
                  <a:srgbClr val="54637C"/>
                </a:solidFill>
                <a:latin typeface="Arial"/>
              </a:rPr>
              <a:t>вся длинная переписка каждый раз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647438"/>
            <a:ext cx="109728" cy="109728"/>
          </a:xfrm>
          <a:prstGeom prst="ellipse">
            <a:avLst/>
          </a:prstGeom>
          <a:solidFill>
            <a:srgbClr val="8A9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4537710"/>
            <a:ext cx="3904487" cy="30861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450" b="0" i="0">
                <a:solidFill>
                  <a:srgbClr val="54637C"/>
                </a:solidFill>
                <a:latin typeface="Arial"/>
              </a:rPr>
              <a:t>ответы днём и ночью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160520" cy="25603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450" b="1" i="0">
                <a:solidFill>
                  <a:srgbClr val="15243D"/>
                </a:solidFill>
                <a:latin typeface="Arial"/>
              </a:rPr>
              <a:t>Расход = живая работа, не сбой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5272" y="3703320"/>
            <a:ext cx="502920" cy="36576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3000" b="1" i="0">
                <a:solidFill>
                  <a:srgbClr val="009C94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697480"/>
            <a:ext cx="5349240" cy="2697480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A9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457200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2200" b="1" i="0">
                <a:solidFill>
                  <a:srgbClr val="15243D"/>
                </a:solidFill>
                <a:latin typeface="Arial"/>
              </a:rPr>
              <a:t>Стало ~$3–6/день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3721608"/>
            <a:ext cx="109728" cy="109728"/>
          </a:xfrm>
          <a:prstGeom prst="ellipse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3611880"/>
            <a:ext cx="4270248" cy="30861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450" b="0" i="0">
                <a:solidFill>
                  <a:srgbClr val="54637C"/>
                </a:solidFill>
                <a:latin typeface="Arial"/>
              </a:rPr>
              <a:t>дешёвая модель на 80% диалогов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4030218"/>
            <a:ext cx="109728" cy="109728"/>
          </a:xfrm>
          <a:prstGeom prst="ellipse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3920490"/>
            <a:ext cx="4270248" cy="30861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450" b="0" i="0">
                <a:solidFill>
                  <a:srgbClr val="54637C"/>
                </a:solidFill>
                <a:latin typeface="Arial"/>
              </a:rPr>
              <a:t>дорогая — только на подборе туров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4338828"/>
            <a:ext cx="109728" cy="109728"/>
          </a:xfrm>
          <a:prstGeom prst="ellipse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4229100"/>
            <a:ext cx="4270248" cy="30861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450" b="0" i="0">
                <a:solidFill>
                  <a:srgbClr val="54637C"/>
                </a:solidFill>
                <a:latin typeface="Arial"/>
              </a:rPr>
              <a:t>готовые ответы без AI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4647438"/>
            <a:ext cx="109728" cy="109728"/>
          </a:xfrm>
          <a:prstGeom prst="ellipse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2" y="4537710"/>
            <a:ext cx="4270248" cy="30861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450" b="0" i="0">
                <a:solidFill>
                  <a:srgbClr val="54637C"/>
                </a:solidFill>
                <a:latin typeface="Arial"/>
              </a:rPr>
              <a:t>сокращение переписки + лимит $10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892040"/>
            <a:ext cx="4526280" cy="25603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450" b="1" i="0">
                <a:solidFill>
                  <a:srgbClr val="15243D"/>
                </a:solidFill>
                <a:latin typeface="Arial"/>
              </a:rPr>
              <a:t>Тот же поток — в 2–3 раза дешевле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62472"/>
            <a:ext cx="566928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850" b="0" i="0">
                <a:solidFill>
                  <a:srgbClr val="54637C"/>
                </a:solidFill>
                <a:latin typeface="Arial"/>
              </a:rPr>
              <a:t>Frunze Travel · GetVisa · Бишкек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6062472"/>
            <a:ext cx="6858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850" b="1" i="0">
                <a:solidFill>
                  <a:srgbClr val="54637C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000" b="1" i="0">
                <a:solidFill>
                  <a:srgbClr val="00676D"/>
                </a:solidFill>
                <a:latin typeface="Arial"/>
              </a:rPr>
              <a:t>ДЕНЬГИ ТОНУТ В ШУМЕ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9966960" cy="6583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200" b="1" i="0">
                <a:solidFill>
                  <a:srgbClr val="15243D"/>
                </a:solidFill>
                <a:latin typeface="Arial"/>
              </a:rPr>
              <a:t>Проблема владельца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2148840" cy="54864"/>
          </a:xfrm>
          <a:prstGeom prst="rect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9052560" cy="56692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200" b="1" i="0">
                <a:solidFill>
                  <a:srgbClr val="15243D"/>
                </a:solidFill>
                <a:latin typeface="Arial"/>
              </a:rPr>
              <a:t>Из 100 обращений в день реальные деньги — 15–20.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44368"/>
            <a:ext cx="8138160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700" b="0" i="0">
                <a:solidFill>
                  <a:srgbClr val="54637C"/>
                </a:solidFill>
                <a:latin typeface="Arial"/>
              </a:rPr>
              <a:t>Горячий клиент теряется в общей куче, менеджер видит его слишком поздно.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77639"/>
            <a:ext cx="3063240" cy="1234440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B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24528"/>
            <a:ext cx="251460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2800" b="1" i="0">
                <a:solidFill>
                  <a:srgbClr val="009C94"/>
                </a:solidFill>
                <a:latin typeface="Arial"/>
              </a:rPr>
              <a:t>15–20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45152"/>
            <a:ext cx="2514600" cy="23774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300" b="1" i="0">
                <a:solidFill>
                  <a:srgbClr val="15243D"/>
                </a:solidFill>
                <a:latin typeface="Arial"/>
              </a:rPr>
              <a:t>клиентов с деньгами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3977639"/>
            <a:ext cx="3063240" cy="12344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4224528"/>
            <a:ext cx="2514600" cy="310896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2800" b="1" i="0">
                <a:solidFill>
                  <a:srgbClr val="8A95A3"/>
                </a:solidFill>
                <a:latin typeface="Arial"/>
              </a:rPr>
              <a:t>80+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645152"/>
            <a:ext cx="2514600" cy="23774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300" b="1" i="0">
                <a:solidFill>
                  <a:srgbClr val="15243D"/>
                </a:solidFill>
                <a:latin typeface="Arial"/>
              </a:rPr>
              <a:t>шум и праздный спрос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977639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4315968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500" b="0" i="1">
                <a:solidFill>
                  <a:srgbClr val="15243D"/>
                </a:solidFill>
                <a:latin typeface="Arial"/>
              </a:rPr>
              <a:t>«Видеть 12 с деньгами, а не читать 100 чатов»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62472"/>
            <a:ext cx="566928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850" b="0" i="0">
                <a:solidFill>
                  <a:srgbClr val="54637C"/>
                </a:solidFill>
                <a:latin typeface="Arial"/>
              </a:rPr>
              <a:t>Frunze Travel · GetVisa · Бишкек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062472"/>
            <a:ext cx="6858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850" b="1" i="0">
                <a:solidFill>
                  <a:srgbClr val="54637C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000" b="1" i="0">
                <a:solidFill>
                  <a:srgbClr val="00676D"/>
                </a:solidFill>
                <a:latin typeface="Arial"/>
              </a:rPr>
              <a:t>КАЖДЫЙ КЛИЕНТ ПОЛУЧАЕТ ЦВЕТ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9966960" cy="6583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200" b="1" i="0">
                <a:solidFill>
                  <a:srgbClr val="15243D"/>
                </a:solidFill>
                <a:latin typeface="Arial"/>
              </a:rPr>
              <a:t>Решение: светофор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2148840" cy="54864"/>
          </a:xfrm>
          <a:prstGeom prst="rect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4290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633472"/>
            <a:ext cx="3099816" cy="146304"/>
          </a:xfrm>
          <a:prstGeom prst="rect">
            <a:avLst/>
          </a:prstGeom>
          <a:solidFill>
            <a:srgbClr val="DE4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3090672"/>
            <a:ext cx="621792" cy="621792"/>
          </a:xfrm>
          <a:prstGeom prst="ellipse">
            <a:avLst/>
          </a:prstGeom>
          <a:solidFill>
            <a:srgbClr val="DE4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858768"/>
            <a:ext cx="278892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900" b="1" i="0">
                <a:solidFill>
                  <a:srgbClr val="15243D"/>
                </a:solidFill>
                <a:latin typeface="Arial"/>
              </a:rPr>
              <a:t>Горячий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370832"/>
            <a:ext cx="2788920" cy="6858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500" b="0" i="0">
                <a:solidFill>
                  <a:srgbClr val="54637C"/>
                </a:solidFill>
                <a:latin typeface="Arial"/>
              </a:rPr>
              <a:t>даты + бюджет → менеджеру с резюме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5230368"/>
            <a:ext cx="3099816" cy="73152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2423160"/>
            <a:ext cx="34290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2633472"/>
            <a:ext cx="3099816" cy="146304"/>
          </a:xfrm>
          <a:prstGeom prst="rect">
            <a:avLst/>
          </a:prstGeom>
          <a:solidFill>
            <a:srgbClr val="F5B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90872" y="3090672"/>
            <a:ext cx="621792" cy="621792"/>
          </a:xfrm>
          <a:prstGeom prst="ellipse">
            <a:avLst/>
          </a:prstGeom>
          <a:solidFill>
            <a:srgbClr val="F5B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3858768"/>
            <a:ext cx="278892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900" b="1" i="0">
                <a:solidFill>
                  <a:srgbClr val="15243D"/>
                </a:solidFill>
                <a:latin typeface="Arial"/>
              </a:rPr>
              <a:t>Тёплый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4370832"/>
            <a:ext cx="2788920" cy="6858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500" b="0" i="0">
                <a:solidFill>
                  <a:srgbClr val="54637C"/>
                </a:solidFill>
                <a:latin typeface="Arial"/>
              </a:rPr>
              <a:t>думает → бот сам напоминает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7992" y="5230368"/>
            <a:ext cx="3099816" cy="73152"/>
          </a:xfrm>
          <a:prstGeom prst="rect">
            <a:avLst/>
          </a:prstGeom>
          <a:solidFill>
            <a:srgbClr val="FFF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2423160"/>
            <a:ext cx="34290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2633472"/>
            <a:ext cx="3099816" cy="146304"/>
          </a:xfrm>
          <a:prstGeom prst="rect">
            <a:avLst/>
          </a:prstGeom>
          <a:solidFill>
            <a:srgbClr val="8A9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85632" y="3090672"/>
            <a:ext cx="621792" cy="621792"/>
          </a:xfrm>
          <a:prstGeom prst="ellipse">
            <a:avLst/>
          </a:prstGeom>
          <a:solidFill>
            <a:srgbClr val="8A9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3858768"/>
            <a:ext cx="2788920" cy="32918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900" b="1" i="0">
                <a:solidFill>
                  <a:srgbClr val="15243D"/>
                </a:solidFill>
                <a:latin typeface="Arial"/>
              </a:rPr>
              <a:t>Просто спросил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4370832"/>
            <a:ext cx="2788920" cy="6858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500" b="0" i="0">
                <a:solidFill>
                  <a:srgbClr val="54637C"/>
                </a:solidFill>
                <a:latin typeface="Arial"/>
              </a:rPr>
              <a:t>бот отвечает сам, менеджеров не трогает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5230368"/>
            <a:ext cx="3099816" cy="7315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062472"/>
            <a:ext cx="566928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850" b="0" i="0">
                <a:solidFill>
                  <a:srgbClr val="54637C"/>
                </a:solidFill>
                <a:latin typeface="Arial"/>
              </a:rPr>
              <a:t>Frunze Travel · GetVisa · Бишкек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6062472"/>
            <a:ext cx="6858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850" b="1" i="0">
                <a:solidFill>
                  <a:srgbClr val="54637C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000" b="1" i="0">
                <a:solidFill>
                  <a:srgbClr val="B7CCD3"/>
                </a:solidFill>
                <a:latin typeface="Arial"/>
              </a:rPr>
              <a:t>ПРИМЕР МАКЕТА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9966960" cy="6583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200" b="1" i="0">
                <a:solidFill>
                  <a:srgbClr val="FFFFFF"/>
                </a:solidFill>
                <a:latin typeface="Arial"/>
              </a:rPr>
              <a:t>Панель владельца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2148840" cy="54864"/>
          </a:xfrm>
          <a:prstGeom prst="rect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469880" cy="3611880"/>
          </a:xfrm>
          <a:prstGeom prst="roundRect">
            <a:avLst/>
          </a:prstGeom>
          <a:solidFill>
            <a:srgbClr val="122D42"/>
          </a:solidFill>
          <a:ln w="12700">
            <a:solidFill>
              <a:srgbClr val="2A5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304288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2000" b="1" i="0">
                <a:solidFill>
                  <a:srgbClr val="FFFFFF"/>
                </a:solidFill>
                <a:latin typeface="Arial"/>
              </a:rPr>
              <a:t>Сегодня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743200"/>
            <a:ext cx="475488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050" b="0" i="0">
                <a:solidFill>
                  <a:srgbClr val="B7CCD3"/>
                </a:solidFill>
                <a:latin typeface="Arial"/>
              </a:rPr>
              <a:t>деньги за 5 секунд, а не 100 чатов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3310128"/>
            <a:ext cx="2148840" cy="1417320"/>
          </a:xfrm>
          <a:prstGeom prst="roundRect">
            <a:avLst/>
          </a:prstGeom>
          <a:solidFill>
            <a:srgbClr val="183B52"/>
          </a:solidFill>
          <a:ln w="12700">
            <a:solidFill>
              <a:srgbClr val="375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3547872"/>
            <a:ext cx="1664208" cy="29260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2400" b="1" i="0">
                <a:solidFill>
                  <a:srgbClr val="DE4A4D"/>
                </a:solidFill>
                <a:latin typeface="Arial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3977639"/>
            <a:ext cx="1664208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250" b="0" i="0">
                <a:solidFill>
                  <a:srgbClr val="FFFFFF"/>
                </a:solidFill>
                <a:latin typeface="Arial"/>
              </a:rPr>
              <a:t>горячих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310128"/>
            <a:ext cx="2148840" cy="1417320"/>
          </a:xfrm>
          <a:prstGeom prst="roundRect">
            <a:avLst/>
          </a:prstGeom>
          <a:solidFill>
            <a:srgbClr val="183B52"/>
          </a:solidFill>
          <a:ln w="12700">
            <a:solidFill>
              <a:srgbClr val="375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3547872"/>
            <a:ext cx="1664208" cy="29260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2400" b="1" i="0">
                <a:solidFill>
                  <a:srgbClr val="F5B440"/>
                </a:solidFill>
                <a:latin typeface="Arial"/>
              </a:rP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3977639"/>
            <a:ext cx="1664208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250" b="0" i="0">
                <a:solidFill>
                  <a:srgbClr val="FFFFFF"/>
                </a:solidFill>
                <a:latin typeface="Arial"/>
              </a:rPr>
              <a:t>тёплых</a:t>
            </a:r>
          </a:p>
          <a:p>
            <a:r>
              <a:rPr sz="1250" b="0" i="0">
                <a:solidFill>
                  <a:srgbClr val="FFFFFF"/>
                </a:solidFill>
                <a:latin typeface="Arial"/>
              </a:rPr>
              <a:t>бот дожимает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3310128"/>
            <a:ext cx="2148840" cy="1417320"/>
          </a:xfrm>
          <a:prstGeom prst="roundRect">
            <a:avLst/>
          </a:prstGeom>
          <a:solidFill>
            <a:srgbClr val="183B52"/>
          </a:solidFill>
          <a:ln w="12700">
            <a:solidFill>
              <a:srgbClr val="375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547872"/>
            <a:ext cx="1664208" cy="29260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2400" b="1" i="0">
                <a:solidFill>
                  <a:srgbClr val="8A95A3"/>
                </a:solidFill>
                <a:latin typeface="Arial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977639"/>
            <a:ext cx="1664208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250" b="0" i="0">
                <a:solidFill>
                  <a:srgbClr val="FFFFFF"/>
                </a:solidFill>
                <a:latin typeface="Arial"/>
              </a:rPr>
              <a:t>ушли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0496" y="3310128"/>
            <a:ext cx="2148840" cy="1417320"/>
          </a:xfrm>
          <a:prstGeom prst="roundRect">
            <a:avLst/>
          </a:prstGeom>
          <a:solidFill>
            <a:srgbClr val="183B52"/>
          </a:solidFill>
          <a:ln w="12700">
            <a:solidFill>
              <a:srgbClr val="375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5088" y="3547872"/>
            <a:ext cx="1664208" cy="29260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2400" b="1" i="0">
                <a:solidFill>
                  <a:srgbClr val="009C94"/>
                </a:solidFill>
                <a:latin typeface="Arial"/>
              </a:rPr>
              <a:t>~сумма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3977639"/>
            <a:ext cx="1664208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250" b="0" i="0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010912"/>
            <a:ext cx="7955279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050" b="0" i="0">
                <a:solidFill>
                  <a:srgbClr val="B7CCD3"/>
                </a:solidFill>
                <a:latin typeface="Arial"/>
              </a:rPr>
              <a:t>пример макета: менеджеры работают только с деньгами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62472"/>
            <a:ext cx="566928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850" b="0" i="0">
                <a:solidFill>
                  <a:srgbClr val="B7CCD3"/>
                </a:solidFill>
                <a:latin typeface="Arial"/>
              </a:rPr>
              <a:t>Frunze Travel · GetVisa · Бишкек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062472"/>
            <a:ext cx="6858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850" b="1" i="0">
                <a:solidFill>
                  <a:srgbClr val="B7CCD3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000" b="1" i="0">
                <a:solidFill>
                  <a:srgbClr val="00676D"/>
                </a:solidFill>
                <a:latin typeface="Arial"/>
              </a:rPr>
              <a:t>РЕЗУЛЬТАТ ДЛЯ БИЗНЕСА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9966960" cy="6583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200" b="1" i="0">
                <a:solidFill>
                  <a:srgbClr val="15243D"/>
                </a:solidFill>
                <a:latin typeface="Arial"/>
              </a:rPr>
              <a:t>Что изменится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2148840" cy="54864"/>
          </a:xfrm>
          <a:prstGeom prst="rect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5349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350008"/>
            <a:ext cx="73152" cy="914400"/>
          </a:xfrm>
          <a:prstGeom prst="rect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77440"/>
            <a:ext cx="461772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800" b="1" i="0">
                <a:solidFill>
                  <a:srgbClr val="15243D"/>
                </a:solidFill>
                <a:latin typeface="Arial"/>
              </a:rPr>
              <a:t>Больше оплат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07208"/>
            <a:ext cx="461772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450" b="0" i="0">
                <a:solidFill>
                  <a:srgbClr val="54637C"/>
                </a:solidFill>
                <a:latin typeface="Arial"/>
              </a:rPr>
              <a:t>из того же входящего потока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349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28231" y="2350008"/>
            <a:ext cx="73152" cy="914400"/>
          </a:xfrm>
          <a:prstGeom prst="rect">
            <a:avLst/>
          </a:prstGeom>
          <a:solidFill>
            <a:srgbClr val="F5B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2377440"/>
            <a:ext cx="461772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800" b="1" i="0">
                <a:solidFill>
                  <a:srgbClr val="15243D"/>
                </a:solidFill>
                <a:latin typeface="Arial"/>
              </a:rPr>
              <a:t>Менеджеры на деньгах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807208"/>
            <a:ext cx="461772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450" b="0" i="0">
                <a:solidFill>
                  <a:srgbClr val="54637C"/>
                </a:solidFill>
                <a:latin typeface="Arial"/>
              </a:rPr>
              <a:t>Адеми, Сезим, Медина, Элиза не перелопачивают шум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39"/>
            <a:ext cx="5349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4178807"/>
            <a:ext cx="73152" cy="914400"/>
          </a:xfrm>
          <a:prstGeom prst="rect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206240"/>
            <a:ext cx="461772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800" b="1" i="0">
                <a:solidFill>
                  <a:srgbClr val="15243D"/>
                </a:solidFill>
                <a:latin typeface="Arial"/>
              </a:rPr>
              <a:t>Репутация цела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636007"/>
            <a:ext cx="461772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450" b="0" i="0">
                <a:solidFill>
                  <a:srgbClr val="54637C"/>
                </a:solidFill>
                <a:latin typeface="Arial"/>
              </a:rPr>
              <a:t>даже простому вопросу отвечают тепло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977639"/>
            <a:ext cx="5349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28231" y="4178807"/>
            <a:ext cx="73152" cy="914400"/>
          </a:xfrm>
          <a:prstGeom prst="rect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4206240"/>
            <a:ext cx="4617720" cy="2743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800" b="1" i="0">
                <a:solidFill>
                  <a:srgbClr val="15243D"/>
                </a:solidFill>
                <a:latin typeface="Arial"/>
              </a:rPr>
              <a:t>Владелец видит бизнес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4636007"/>
            <a:ext cx="461772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450" b="0" i="0">
                <a:solidFill>
                  <a:srgbClr val="54637C"/>
                </a:solidFill>
                <a:latin typeface="Arial"/>
              </a:rPr>
              <a:t>не 100 чатов, а очередь возможностей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62472"/>
            <a:ext cx="566928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850" b="0" i="0">
                <a:solidFill>
                  <a:srgbClr val="54637C"/>
                </a:solidFill>
                <a:latin typeface="Arial"/>
              </a:rPr>
              <a:t>Frunze Travel · GetVisa · Бишкек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062472"/>
            <a:ext cx="6858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850" b="1" i="0">
                <a:solidFill>
                  <a:srgbClr val="54637C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000" b="1" i="0">
                <a:solidFill>
                  <a:srgbClr val="00676D"/>
                </a:solidFill>
                <a:latin typeface="Arial"/>
              </a:rPr>
              <a:t>ЧЕСТНЫЕ 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9966960" cy="6583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200" b="1" i="0">
                <a:solidFill>
                  <a:srgbClr val="15243D"/>
                </a:solidFill>
                <a:latin typeface="Arial"/>
              </a:rPr>
              <a:t>Как поймём, что работает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2148840" cy="54864"/>
          </a:xfrm>
          <a:prstGeom prst="rect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514600"/>
            <a:ext cx="3429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278892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800" b="1" i="0">
                <a:solidFill>
                  <a:srgbClr val="15243D"/>
                </a:solidFill>
                <a:latin typeface="Arial"/>
              </a:rPr>
              <a:t>Время реакции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493008"/>
            <a:ext cx="1234440" cy="73152"/>
          </a:xfrm>
          <a:prstGeom prst="rect">
            <a:avLst/>
          </a:prstGeom>
          <a:solidFill>
            <a:srgbClr val="DE4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550" b="0" i="0">
                <a:solidFill>
                  <a:srgbClr val="54637C"/>
                </a:solidFill>
                <a:latin typeface="Arial"/>
              </a:rPr>
              <a:t>на горячего: минуты, не часы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514600"/>
            <a:ext cx="3429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880360"/>
            <a:ext cx="278892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800" b="1" i="0">
                <a:solidFill>
                  <a:srgbClr val="15243D"/>
                </a:solidFill>
                <a:latin typeface="Arial"/>
              </a:rPr>
              <a:t>Конверсия в оплату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493008"/>
            <a:ext cx="1234440" cy="73152"/>
          </a:xfrm>
          <a:prstGeom prst="rect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84048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550" b="0" i="0">
                <a:solidFill>
                  <a:srgbClr val="54637C"/>
                </a:solidFill>
                <a:latin typeface="Arial"/>
              </a:rPr>
              <a:t>каждый диалог получает исход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514600"/>
            <a:ext cx="3429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880360"/>
            <a:ext cx="278892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800" b="1" i="0">
                <a:solidFill>
                  <a:srgbClr val="15243D"/>
                </a:solidFill>
                <a:latin typeface="Arial"/>
              </a:rPr>
              <a:t>Горячих в день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3493008"/>
            <a:ext cx="1234440" cy="73152"/>
          </a:xfrm>
          <a:prstGeom prst="rect">
            <a:avLst/>
          </a:prstGeom>
          <a:solidFill>
            <a:srgbClr val="F5B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84048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550" b="0" i="0">
                <a:solidFill>
                  <a:srgbClr val="54637C"/>
                </a:solidFill>
                <a:latin typeface="Arial"/>
              </a:rPr>
              <a:t>сколько бот выделил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32120"/>
            <a:ext cx="978408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800" b="1" i="0">
                <a:solidFill>
                  <a:srgbClr val="15243D"/>
                </a:solidFill>
                <a:latin typeface="Arial"/>
              </a:rPr>
              <a:t>Главный вопрос: стало ли больше оплат из того же потока.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62472"/>
            <a:ext cx="566928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850" b="0" i="0">
                <a:solidFill>
                  <a:srgbClr val="54637C"/>
                </a:solidFill>
                <a:latin typeface="Arial"/>
              </a:rPr>
              <a:t>Frunze Travel · GetVisa · Бишкек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062472"/>
            <a:ext cx="6858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850" b="1" i="0">
                <a:solidFill>
                  <a:srgbClr val="54637C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5303520" cy="25603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100" b="1" i="0">
                <a:solidFill>
                  <a:srgbClr val="009C94"/>
                </a:solidFill>
                <a:latin typeface="Arial"/>
              </a:rPr>
              <a:t>Суть в одном предложении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10561320" cy="21488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200" b="1" i="0">
                <a:solidFill>
                  <a:srgbClr val="FFFFFF"/>
                </a:solidFill>
                <a:latin typeface="Arial"/>
              </a:rPr>
              <a:t>Бот становится фильтром: пропускает шум через себя, а вам подаёт людей с деньгами — вовремя и с сохранённой репутацией.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4251960"/>
            <a:ext cx="5852160" cy="1051560"/>
          </a:xfrm>
          <a:prstGeom prst="roundRect">
            <a:avLst/>
          </a:prstGeom>
          <a:solidFill>
            <a:srgbClr val="122D42"/>
          </a:solidFill>
          <a:ln w="12700">
            <a:solidFill>
              <a:srgbClr val="2A5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4535424"/>
            <a:ext cx="5166360" cy="38404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Frunze Travel · GetVisa · Бишкек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25312"/>
            <a:ext cx="859536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850" b="0" i="0">
                <a:solidFill>
                  <a:srgbClr val="B7CCD3"/>
                </a:solidFill>
                <a:latin typeface="Arial"/>
              </a:rPr>
              <a:t>Данные из рабочей базы за 24.06–02.07.2026. Панель — макет решения.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000" b="1" i="0">
                <a:solidFill>
                  <a:srgbClr val="00676D"/>
                </a:solidFill>
                <a:latin typeface="Arial"/>
              </a:rPr>
              <a:t>РЕАЛЬНЫЕ ДАННЫЕ ИЗ ПРОДА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9966960" cy="6583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3200" b="1" i="0">
                <a:solidFill>
                  <a:srgbClr val="15243D"/>
                </a:solidFill>
                <a:latin typeface="Arial"/>
              </a:rPr>
              <a:t>Сколько людей писали и сколько бот ответил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2148840" cy="54864"/>
          </a:xfrm>
          <a:prstGeom prst="rect">
            <a:avLst/>
          </a:prstGeom>
          <a:solidFill>
            <a:srgbClr val="00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47088"/>
          <a:ext cx="11091672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331720"/>
                <a:gridCol w="3429000"/>
                <a:gridCol w="3913632"/>
              </a:tblGrid>
              <a:tr h="32585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День</a:t>
                      </a:r>
                    </a:p>
                  </a:txBody>
                  <a:tcPr marL="45720" marR="45720" marT="18288" marB="18288">
                    <a:solidFill>
                      <a:srgbClr val="122D4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Людей писало</a:t>
                      </a:r>
                    </a:p>
                  </a:txBody>
                  <a:tcPr marL="45720" marR="45720" marT="18288" marB="18288">
                    <a:solidFill>
                      <a:srgbClr val="122D4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Сообщений клиентов</a:t>
                      </a:r>
                    </a:p>
                  </a:txBody>
                  <a:tcPr marL="45720" marR="45720" marT="18288" marB="18288">
                    <a:solidFill>
                      <a:srgbClr val="122D4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Ответов бота</a:t>
                      </a:r>
                    </a:p>
                  </a:txBody>
                  <a:tcPr marL="45720" marR="45720" marT="18288" marB="18288">
                    <a:solidFill>
                      <a:srgbClr val="122D42"/>
                    </a:solidFill>
                  </a:tcPr>
                </a:tc>
              </a:tr>
              <a:tr h="32585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02.07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1058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836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585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01.07</a:t>
                      </a:r>
                    </a:p>
                  </a:txBody>
                  <a:tcPr marL="45720" marR="45720" marT="18288" marB="18288">
                    <a:solidFill>
                      <a:srgbClr val="EEF2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45720" marR="45720" marT="18288" marB="18288">
                    <a:solidFill>
                      <a:srgbClr val="EEF2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45720" marR="45720" marT="18288" marB="18288">
                    <a:solidFill>
                      <a:srgbClr val="EEF2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45720" marR="45720" marT="18288" marB="18288">
                    <a:solidFill>
                      <a:srgbClr val="EEF2F6"/>
                    </a:solidFill>
                  </a:tcPr>
                </a:tc>
              </a:tr>
              <a:tr h="32585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30.06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585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29.06</a:t>
                      </a:r>
                    </a:p>
                  </a:txBody>
                  <a:tcPr marL="45720" marR="45720" marT="18288" marB="18288">
                    <a:solidFill>
                      <a:srgbClr val="EEF2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45720" marR="45720" marT="18288" marB="18288">
                    <a:solidFill>
                      <a:srgbClr val="EEF2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45720" marR="45720" marT="18288" marB="18288">
                    <a:solidFill>
                      <a:srgbClr val="EEF2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EEF2F6"/>
                    </a:solidFill>
                  </a:tcPr>
                </a:tc>
              </a:tr>
              <a:tr h="32585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28.06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585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27.06</a:t>
                      </a:r>
                    </a:p>
                  </a:txBody>
                  <a:tcPr marL="45720" marR="45720" marT="18288" marB="18288">
                    <a:solidFill>
                      <a:srgbClr val="EEF2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45720" marR="45720" marT="18288" marB="18288">
                    <a:solidFill>
                      <a:srgbClr val="EEF2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45720" marR="45720" marT="18288" marB="18288">
                    <a:solidFill>
                      <a:srgbClr val="EEF2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45720" marR="45720" marT="18288" marB="18288">
                    <a:solidFill>
                      <a:srgbClr val="EEF2F6"/>
                    </a:solidFill>
                  </a:tcPr>
                </a:tc>
              </a:tr>
              <a:tr h="32585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26.06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585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25.06</a:t>
                      </a:r>
                    </a:p>
                  </a:txBody>
                  <a:tcPr marL="45720" marR="45720" marT="18288" marB="18288">
                    <a:solidFill>
                      <a:srgbClr val="EEF2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45720" marR="45720" marT="18288" marB="18288">
                    <a:solidFill>
                      <a:srgbClr val="EEF2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45720" marR="45720" marT="18288" marB="18288">
                    <a:solidFill>
                      <a:srgbClr val="EEF2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EEF2F6"/>
                    </a:solidFill>
                  </a:tcPr>
                </a:tc>
              </a:tr>
              <a:tr h="32585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24.06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50" b="0" i="0">
                          <a:solidFill>
                            <a:srgbClr val="15243D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586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 i="0">
                          <a:solidFill>
                            <a:srgbClr val="15243D"/>
                          </a:solidFill>
                          <a:latin typeface="Arial"/>
                        </a:rPr>
                        <a:t>ВСЕГО</a:t>
                      </a:r>
                    </a:p>
                  </a:txBody>
                  <a:tcPr marL="45720" marR="45720" marT="18288" marB="18288">
                    <a:solidFill>
                      <a:srgbClr val="FFF4D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 i="0">
                          <a:solidFill>
                            <a:srgbClr val="15243D"/>
                          </a:solidFill>
                          <a:latin typeface="Arial"/>
                        </a:rPr>
                        <a:t>503 человека</a:t>
                      </a:r>
                    </a:p>
                  </a:txBody>
                  <a:tcPr marL="45720" marR="45720" marT="18288" marB="18288">
                    <a:solidFill>
                      <a:srgbClr val="FFF4D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 i="0">
                          <a:solidFill>
                            <a:srgbClr val="15243D"/>
                          </a:solidFill>
                          <a:latin typeface="Arial"/>
                        </a:rPr>
                        <a:t>2911</a:t>
                      </a:r>
                    </a:p>
                  </a:txBody>
                  <a:tcPr marL="45720" marR="45720" marT="18288" marB="18288">
                    <a:solidFill>
                      <a:srgbClr val="FFF4D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 i="0">
                          <a:solidFill>
                            <a:srgbClr val="15243D"/>
                          </a:solidFill>
                          <a:latin typeface="Arial"/>
                        </a:rPr>
                        <a:t>1215 ответов бота</a:t>
                      </a:r>
                    </a:p>
                  </a:txBody>
                  <a:tcPr marL="45720" marR="45720" marT="18288" marB="18288">
                    <a:solidFill>
                      <a:srgbClr val="FFF4D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59552"/>
            <a:ext cx="11091672" cy="34747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1050" b="0" i="0">
                <a:solidFill>
                  <a:srgbClr val="54637C"/>
                </a:solidFill>
                <a:latin typeface="Arial"/>
              </a:rPr>
              <a:t>25–29 июня бот был выключен (ответов 0) — люди писали, но автоответа не было. Это упущенные обращения.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62472"/>
            <a:ext cx="566928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r>
              <a:rPr sz="850" b="0" i="0">
                <a:solidFill>
                  <a:srgbClr val="54637C"/>
                </a:solidFill>
                <a:latin typeface="Arial"/>
              </a:rPr>
              <a:t>Frunze Travel · GetVisa · Бишкек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062472"/>
            <a:ext cx="6858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r"/>
            <a:r>
              <a:rPr sz="850" b="1" i="0">
                <a:solidFill>
                  <a:srgbClr val="54637C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