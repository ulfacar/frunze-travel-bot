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09728" cy="5440680"/>
          </a:xfrm>
          <a:prstGeom prst="rect">
            <a:avLst/>
          </a:prstGeom>
          <a:solidFill>
            <a:srgbClr val="009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115568"/>
            <a:ext cx="4937760" cy="3200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500" b="1" i="0">
                <a:solidFill>
                  <a:srgbClr val="009C94"/>
                </a:solidFill>
                <a:latin typeface="Arial"/>
              </a:rPr>
              <a:t>Frunze Travel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783080"/>
            <a:ext cx="8138160" cy="13258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3400" b="1" i="0">
                <a:solidFill>
                  <a:srgbClr val="FFFFFF"/>
                </a:solidFill>
                <a:latin typeface="Arial"/>
              </a:rPr>
              <a:t>Frunze Travel —</a:t>
            </a:r>
          </a:p>
          <a:p>
            <a:r>
              <a:rPr sz="3400" b="1" i="0">
                <a:solidFill>
                  <a:srgbClr val="FFFFFF"/>
                </a:solidFill>
                <a:latin typeface="Arial"/>
              </a:rPr>
              <a:t>следующий шаг 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3429000"/>
            <a:ext cx="7680960" cy="8229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800" b="0" i="0">
                <a:solidFill>
                  <a:srgbClr val="B7CCD3"/>
                </a:solidFill>
                <a:latin typeface="Arial"/>
              </a:rPr>
              <a:t>Из потока в 100 сообщений в день — в понятную очередь клиентов с деньгами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49640" y="1417320"/>
            <a:ext cx="2697480" cy="3429000"/>
          </a:xfrm>
          <a:prstGeom prst="roundRect">
            <a:avLst/>
          </a:prstGeom>
          <a:solidFill>
            <a:srgbClr val="122D42"/>
          </a:solidFill>
          <a:ln w="12700">
            <a:solidFill>
              <a:srgbClr val="2A56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87968" y="1783080"/>
            <a:ext cx="2011680" cy="438912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3600" b="1" i="0">
                <a:solidFill>
                  <a:srgbClr val="FFFFFF"/>
                </a:solidFill>
                <a:latin typeface="Arial"/>
              </a:rPr>
              <a:t>230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87968" y="2359152"/>
            <a:ext cx="2011680" cy="5486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500" b="0" i="0">
                <a:solidFill>
                  <a:srgbClr val="B7CCD3"/>
                </a:solidFill>
                <a:latin typeface="Arial"/>
              </a:rPr>
              <a:t>реальных</a:t>
            </a:r>
          </a:p>
          <a:p>
            <a:r>
              <a:rPr sz="1500" b="0" i="0">
                <a:solidFill>
                  <a:srgbClr val="B7CCD3"/>
                </a:solidFill>
                <a:latin typeface="Arial"/>
              </a:rPr>
              <a:t>диалогов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7968" y="3337560"/>
            <a:ext cx="2011680" cy="438912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3600" b="1" i="0">
                <a:solidFill>
                  <a:srgbClr val="009C94"/>
                </a:solidFill>
                <a:latin typeface="Arial"/>
              </a:rPr>
              <a:t>70%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87968" y="3913632"/>
            <a:ext cx="201168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500" b="0" i="0">
                <a:solidFill>
                  <a:srgbClr val="B7CCD3"/>
                </a:solidFill>
                <a:latin typeface="Arial"/>
              </a:rPr>
              <a:t>бот провёл сам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6016752"/>
            <a:ext cx="530352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950" b="0" i="0">
                <a:solidFill>
                  <a:srgbClr val="B7CCD3"/>
                </a:solidFill>
                <a:latin typeface="Arial"/>
              </a:rPr>
              <a:t>Frunze Travel · GetVisa · Бишкек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6858000" cy="256032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000" b="1" i="0">
                <a:solidFill>
                  <a:srgbClr val="00676D"/>
                </a:solidFill>
                <a:latin typeface="Arial"/>
              </a:rPr>
              <a:t>РЕАЛЬНЫЕ ДАННЫЕ ИЗ WHATSAPP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9966960" cy="6583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3200" b="1" i="0">
                <a:solidFill>
                  <a:srgbClr val="15243D"/>
                </a:solidFill>
                <a:latin typeface="Arial"/>
              </a:rPr>
              <a:t>Что бот уже делает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27632"/>
            <a:ext cx="2148840" cy="54864"/>
          </a:xfrm>
          <a:prstGeom prst="rect">
            <a:avLst/>
          </a:prstGeom>
          <a:solidFill>
            <a:srgbClr val="009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2542032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267712"/>
            <a:ext cx="205740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3000" b="1" i="0">
                <a:solidFill>
                  <a:srgbClr val="009C94"/>
                </a:solidFill>
                <a:latin typeface="Arial"/>
              </a:rPr>
              <a:t>230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788920"/>
            <a:ext cx="2057400" cy="47548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300" b="0" i="0">
                <a:solidFill>
                  <a:srgbClr val="54637C"/>
                </a:solidFill>
                <a:latin typeface="Arial"/>
              </a:rPr>
              <a:t>диалога</a:t>
            </a:r>
          </a:p>
          <a:p>
            <a:r>
              <a:rPr sz="1300" b="0" i="0">
                <a:solidFill>
                  <a:srgbClr val="54637C"/>
                </a:solidFill>
                <a:latin typeface="Arial"/>
              </a:rPr>
              <a:t>48–100 новых/день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64992" y="2057400"/>
            <a:ext cx="2542032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2267712"/>
            <a:ext cx="205740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3000" b="1" i="0">
                <a:solidFill>
                  <a:srgbClr val="00676D"/>
                </a:solidFill>
                <a:latin typeface="Arial"/>
              </a:rPr>
              <a:t>3200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788920"/>
            <a:ext cx="2057400" cy="47548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300" b="0" i="0">
                <a:solidFill>
                  <a:srgbClr val="54637C"/>
                </a:solidFill>
                <a:latin typeface="Arial"/>
              </a:rPr>
              <a:t>сообщений</a:t>
            </a:r>
          </a:p>
          <a:p>
            <a:r>
              <a:rPr sz="1300" b="0" i="0">
                <a:solidFill>
                  <a:srgbClr val="54637C"/>
                </a:solidFill>
                <a:latin typeface="Arial"/>
              </a:rPr>
              <a:t>обработано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2057400"/>
            <a:ext cx="2542032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2512" y="2267712"/>
            <a:ext cx="205740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3000" b="1" i="0">
                <a:solidFill>
                  <a:srgbClr val="F5B440"/>
                </a:solidFill>
                <a:latin typeface="Arial"/>
              </a:rPr>
              <a:t>1400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2788920"/>
            <a:ext cx="2057400" cy="47548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300" b="0" i="0">
                <a:solidFill>
                  <a:srgbClr val="54637C"/>
                </a:solidFill>
                <a:latin typeface="Arial"/>
              </a:rPr>
              <a:t>ответов бота</a:t>
            </a:r>
          </a:p>
          <a:p>
            <a:r>
              <a:rPr sz="1300" b="0" i="0">
                <a:solidFill>
                  <a:srgbClr val="54637C"/>
                </a:solidFill>
                <a:latin typeface="Arial"/>
              </a:rPr>
              <a:t>клиентам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97696" y="2057400"/>
            <a:ext cx="2542032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98864" y="2267712"/>
            <a:ext cx="205740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3000" b="1" i="0">
                <a:solidFill>
                  <a:srgbClr val="DE4A4D"/>
                </a:solidFill>
                <a:latin typeface="Arial"/>
              </a:rPr>
              <a:t>70%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98864" y="2788920"/>
            <a:ext cx="2057400" cy="47548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300" b="0" i="0">
                <a:solidFill>
                  <a:srgbClr val="54637C"/>
                </a:solidFill>
                <a:latin typeface="Arial"/>
              </a:rPr>
              <a:t>диалогов бот</a:t>
            </a:r>
          </a:p>
          <a:p>
            <a:r>
              <a:rPr sz="1300" b="0" i="0">
                <a:solidFill>
                  <a:srgbClr val="54637C"/>
                </a:solidFill>
                <a:latin typeface="Arial"/>
              </a:rPr>
              <a:t>провёл сам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069080"/>
            <a:ext cx="5303520" cy="1143000"/>
          </a:xfrm>
          <a:prstGeom prst="roundRect">
            <a:avLst/>
          </a:prstGeom>
          <a:solidFill>
            <a:srgbClr val="E0F5F1"/>
          </a:solidFill>
          <a:ln w="12700">
            <a:solidFill>
              <a:srgbClr val="B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315968"/>
            <a:ext cx="480060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800" b="1" i="0">
                <a:solidFill>
                  <a:srgbClr val="15243D"/>
                </a:solidFill>
                <a:latin typeface="Arial"/>
              </a:rPr>
              <a:t>Туры 131 · визы 99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4069080"/>
            <a:ext cx="5440680" cy="11430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EFD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4279392"/>
            <a:ext cx="4800600" cy="49377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600" b="1" i="0">
                <a:solidFill>
                  <a:srgbClr val="15243D"/>
                </a:solidFill>
                <a:latin typeface="Arial"/>
              </a:rPr>
              <a:t>24/7: половина обращений вне рабочих часов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062472"/>
            <a:ext cx="566928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850" b="0" i="0">
                <a:solidFill>
                  <a:srgbClr val="54637C"/>
                </a:solidFill>
                <a:latin typeface="Arial"/>
              </a:rPr>
              <a:t>Frunze Travel · GetVisa · Бишкек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27080" y="6062472"/>
            <a:ext cx="6858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850" b="1" i="0">
                <a:solidFill>
                  <a:srgbClr val="54637C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6858000" cy="256032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000" b="1" i="0">
                <a:solidFill>
                  <a:srgbClr val="00676D"/>
                </a:solidFill>
                <a:latin typeface="Arial"/>
              </a:rPr>
              <a:t>ТРИАЖ ЛИДОВ — УЖЕ РАБОТАЕТ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9966960" cy="6583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3200" b="1" i="0">
                <a:solidFill>
                  <a:srgbClr val="15243D"/>
                </a:solidFill>
                <a:latin typeface="Arial"/>
              </a:rPr>
              <a:t>Бот сам делит поток: где деньги, а где шум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27632"/>
            <a:ext cx="2148840" cy="54864"/>
          </a:xfrm>
          <a:prstGeom prst="rect">
            <a:avLst/>
          </a:prstGeom>
          <a:solidFill>
            <a:srgbClr val="009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56716" y="2057400"/>
            <a:ext cx="9875520" cy="841248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EEF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76756" y="2203704"/>
            <a:ext cx="141732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3000" b="1" i="0">
                <a:solidFill>
                  <a:srgbClr val="15243D"/>
                </a:solidFill>
                <a:latin typeface="Arial"/>
              </a:rPr>
              <a:t>230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31236" y="2221992"/>
            <a:ext cx="7635240" cy="438912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350" b="0" i="0">
                <a:solidFill>
                  <a:srgbClr val="15243D"/>
                </a:solidFill>
                <a:latin typeface="Arial"/>
              </a:rPr>
              <a:t>весь поток за 1-3 июля</a:t>
            </a:r>
          </a:p>
          <a:p>
            <a:r>
              <a:rPr sz="1350" b="0" i="0">
                <a:solidFill>
                  <a:srgbClr val="15243D"/>
                </a:solidFill>
                <a:latin typeface="Arial"/>
              </a:rPr>
              <a:t>все, кто написал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39696" y="3136391"/>
            <a:ext cx="7909560" cy="841248"/>
          </a:xfrm>
          <a:prstGeom prst="roundRect">
            <a:avLst/>
          </a:prstGeom>
          <a:solidFill>
            <a:srgbClr val="009C94"/>
          </a:solidFill>
          <a:ln w="12700">
            <a:solidFill>
              <a:srgbClr val="009C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59736" y="3282696"/>
            <a:ext cx="141732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3000" b="1" i="0">
                <a:solidFill>
                  <a:srgbClr val="FFFFFF"/>
                </a:solidFill>
                <a:latin typeface="Arial"/>
              </a:rPr>
              <a:t>160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14216" y="3300984"/>
            <a:ext cx="5669280" cy="438912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350" b="0" i="0">
                <a:solidFill>
                  <a:srgbClr val="FFFFFF"/>
                </a:solidFill>
                <a:latin typeface="Arial"/>
              </a:rPr>
              <a:t>бот довёл сам</a:t>
            </a:r>
          </a:p>
          <a:p>
            <a:r>
              <a:rPr sz="1350" b="0" i="0">
                <a:solidFill>
                  <a:srgbClr val="FFFFFF"/>
                </a:solidFill>
                <a:latin typeface="Arial"/>
              </a:rPr>
              <a:t>без передачи менеджеру (70%)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91256" y="4215383"/>
            <a:ext cx="5806440" cy="841248"/>
          </a:xfrm>
          <a:prstGeom prst="roundRect">
            <a:avLst/>
          </a:prstGeom>
          <a:solidFill>
            <a:srgbClr val="122D42"/>
          </a:solidFill>
          <a:ln w="12700">
            <a:solidFill>
              <a:srgbClr val="12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11296" y="4361688"/>
            <a:ext cx="141732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3000" b="1" i="0">
                <a:solidFill>
                  <a:srgbClr val="FFFFFF"/>
                </a:solidFill>
                <a:latin typeface="Arial"/>
              </a:rPr>
              <a:t>74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65776" y="4379975"/>
            <a:ext cx="3566159" cy="438912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350" b="0" i="0">
                <a:solidFill>
                  <a:srgbClr val="FFFFFF"/>
                </a:solidFill>
                <a:latin typeface="Arial"/>
              </a:rPr>
              <a:t>готовы платить</a:t>
            </a:r>
          </a:p>
          <a:p>
            <a:r>
              <a:rPr sz="1350" b="0" i="0">
                <a:solidFill>
                  <a:srgbClr val="FFFFFF"/>
                </a:solidFill>
                <a:latin typeface="Arial"/>
              </a:rPr>
              <a:t>бот выделил как горячих — им менеджер бегом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440680"/>
            <a:ext cx="11091672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ctr"/>
            <a:r>
              <a:rPr sz="1100" b="0" i="0">
                <a:solidFill>
                  <a:srgbClr val="54637C"/>
                </a:solidFill>
                <a:latin typeface="Arial"/>
              </a:rPr>
              <a:t>Всю разметку бот делает сам, без единой ручной кнопки: 230 — поток, 74 — те, у кого деньги.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062472"/>
            <a:ext cx="566928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850" b="0" i="0">
                <a:solidFill>
                  <a:srgbClr val="54637C"/>
                </a:solidFill>
                <a:latin typeface="Arial"/>
              </a:rPr>
              <a:t>Frunze Travel · GetVisa · Бишкек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27080" y="6062472"/>
            <a:ext cx="6858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850" b="1" i="0">
                <a:solidFill>
                  <a:srgbClr val="54637C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6858000" cy="256032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000" b="1" i="0">
                <a:solidFill>
                  <a:srgbClr val="00676D"/>
                </a:solidFill>
                <a:latin typeface="Arial"/>
              </a:rPr>
              <a:t>ПОЧЕМУ ~$15 В ДЕНЬ — ЭТО НОРМАЛЬНО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9966960" cy="6583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3200" b="1" i="0">
                <a:solidFill>
                  <a:srgbClr val="15243D"/>
                </a:solidFill>
                <a:latin typeface="Arial"/>
              </a:rPr>
              <a:t>Откуда брался расход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27632"/>
            <a:ext cx="2148840" cy="54864"/>
          </a:xfrm>
          <a:prstGeom prst="rect">
            <a:avLst/>
          </a:prstGeom>
          <a:solidFill>
            <a:srgbClr val="009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1042416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800" b="1" i="0">
                <a:solidFill>
                  <a:srgbClr val="15243D"/>
                </a:solidFill>
                <a:latin typeface="Arial"/>
              </a:rPr>
              <a:t>Деньги уходили не из-за сбоя: бот реально много работал на дорогой модели.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97480"/>
            <a:ext cx="4892040" cy="269748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971800"/>
            <a:ext cx="4114800" cy="329184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2200" b="1" i="0">
                <a:solidFill>
                  <a:srgbClr val="15243D"/>
                </a:solidFill>
                <a:latin typeface="Arial"/>
              </a:rPr>
              <a:t>Было ~$15/день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3721608"/>
            <a:ext cx="109728" cy="109728"/>
          </a:xfrm>
          <a:prstGeom prst="ellipse">
            <a:avLst/>
          </a:prstGeom>
          <a:solidFill>
            <a:srgbClr val="8A95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24712" y="3611880"/>
            <a:ext cx="3904487" cy="30861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450" b="0" i="0">
                <a:solidFill>
                  <a:srgbClr val="54637C"/>
                </a:solidFill>
                <a:latin typeface="Arial"/>
              </a:rPr>
              <a:t>674+ ответов в день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4030218"/>
            <a:ext cx="109728" cy="109728"/>
          </a:xfrm>
          <a:prstGeom prst="ellipse">
            <a:avLst/>
          </a:prstGeom>
          <a:solidFill>
            <a:srgbClr val="8A95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4712" y="3920490"/>
            <a:ext cx="3904487" cy="30861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450" b="0" i="0">
                <a:solidFill>
                  <a:srgbClr val="54637C"/>
                </a:solidFill>
                <a:latin typeface="Arial"/>
              </a:rPr>
              <a:t>дорогая модель на всём потоке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4338828"/>
            <a:ext cx="109728" cy="109728"/>
          </a:xfrm>
          <a:prstGeom prst="ellipse">
            <a:avLst/>
          </a:prstGeom>
          <a:solidFill>
            <a:srgbClr val="8A95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24712" y="4229100"/>
            <a:ext cx="3904487" cy="30861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450" b="0" i="0">
                <a:solidFill>
                  <a:srgbClr val="54637C"/>
                </a:solidFill>
                <a:latin typeface="Arial"/>
              </a:rPr>
              <a:t>вся длинная переписка каждый раз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647438"/>
            <a:ext cx="109728" cy="109728"/>
          </a:xfrm>
          <a:prstGeom prst="ellipse">
            <a:avLst/>
          </a:prstGeom>
          <a:solidFill>
            <a:srgbClr val="8A95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24712" y="4537710"/>
            <a:ext cx="3904487" cy="30861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450" b="0" i="0">
                <a:solidFill>
                  <a:srgbClr val="54637C"/>
                </a:solidFill>
                <a:latin typeface="Arial"/>
              </a:rPr>
              <a:t>ответы днём и ночью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892040"/>
            <a:ext cx="4160520" cy="256032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450" b="1" i="0">
                <a:solidFill>
                  <a:srgbClr val="15243D"/>
                </a:solidFill>
                <a:latin typeface="Arial"/>
              </a:rPr>
              <a:t>Расход = живая работа, не сбой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05272" y="3703320"/>
            <a:ext cx="50292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ctr"/>
            <a:r>
              <a:rPr sz="3000" b="1" i="0">
                <a:solidFill>
                  <a:srgbClr val="009C94"/>
                </a:solidFill>
                <a:latin typeface="Arial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697480"/>
            <a:ext cx="5349240" cy="2697480"/>
          </a:xfrm>
          <a:prstGeom prst="roundRect">
            <a:avLst/>
          </a:prstGeom>
          <a:solidFill>
            <a:srgbClr val="E0F5F1"/>
          </a:solidFill>
          <a:ln w="12700">
            <a:solidFill>
              <a:srgbClr val="A9D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971800"/>
            <a:ext cx="4572000" cy="329184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2200" b="1" i="0">
                <a:solidFill>
                  <a:srgbClr val="15243D"/>
                </a:solidFill>
                <a:latin typeface="Arial"/>
              </a:rPr>
              <a:t>Стало ~$1–2,5/день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0" y="3721608"/>
            <a:ext cx="109728" cy="109728"/>
          </a:xfrm>
          <a:prstGeom prst="ellipse">
            <a:avLst/>
          </a:prstGeom>
          <a:solidFill>
            <a:srgbClr val="009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39712" y="3611880"/>
            <a:ext cx="4270248" cy="30861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450" b="0" i="0">
                <a:solidFill>
                  <a:srgbClr val="54637C"/>
                </a:solidFill>
                <a:latin typeface="Arial"/>
              </a:rPr>
              <a:t>дешёвая модель на 80% диалогов</a:t>
            </a:r>
          </a:p>
        </p:txBody>
      </p:sp>
      <p:sp>
        <p:nvSpPr>
          <p:cNvPr id="22" name="Oval 21"/>
          <p:cNvSpPr/>
          <p:nvPr/>
        </p:nvSpPr>
        <p:spPr>
          <a:xfrm>
            <a:off x="6583680" y="4030218"/>
            <a:ext cx="109728" cy="109728"/>
          </a:xfrm>
          <a:prstGeom prst="ellipse">
            <a:avLst/>
          </a:prstGeom>
          <a:solidFill>
            <a:srgbClr val="009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39712" y="3920490"/>
            <a:ext cx="4270248" cy="30861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450" b="0" i="0">
                <a:solidFill>
                  <a:srgbClr val="54637C"/>
                </a:solidFill>
                <a:latin typeface="Arial"/>
              </a:rPr>
              <a:t>дорогая — только на подборе туров</a:t>
            </a:r>
          </a:p>
        </p:txBody>
      </p:sp>
      <p:sp>
        <p:nvSpPr>
          <p:cNvPr id="24" name="Oval 23"/>
          <p:cNvSpPr/>
          <p:nvPr/>
        </p:nvSpPr>
        <p:spPr>
          <a:xfrm>
            <a:off x="6583680" y="4338828"/>
            <a:ext cx="109728" cy="109728"/>
          </a:xfrm>
          <a:prstGeom prst="ellipse">
            <a:avLst/>
          </a:prstGeom>
          <a:solidFill>
            <a:srgbClr val="009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39712" y="4229100"/>
            <a:ext cx="4270248" cy="30861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450" b="0" i="0">
                <a:solidFill>
                  <a:srgbClr val="54637C"/>
                </a:solidFill>
                <a:latin typeface="Arial"/>
              </a:rPr>
              <a:t>готовые ответы без AI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4647438"/>
            <a:ext cx="109728" cy="109728"/>
          </a:xfrm>
          <a:prstGeom prst="ellipse">
            <a:avLst/>
          </a:prstGeom>
          <a:solidFill>
            <a:srgbClr val="009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39712" y="4537710"/>
            <a:ext cx="4270248" cy="30861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450" b="0" i="0">
                <a:solidFill>
                  <a:srgbClr val="54637C"/>
                </a:solidFill>
                <a:latin typeface="Arial"/>
              </a:rPr>
              <a:t>сокращение переписки + лимит $10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4892040"/>
            <a:ext cx="4526280" cy="256032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450" b="1" i="0">
                <a:solidFill>
                  <a:srgbClr val="15243D"/>
                </a:solidFill>
                <a:latin typeface="Arial"/>
              </a:rPr>
              <a:t>Тот же поток — в 2–3 раза дешевле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062472"/>
            <a:ext cx="566928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850" b="0" i="0">
                <a:solidFill>
                  <a:srgbClr val="54637C"/>
                </a:solidFill>
                <a:latin typeface="Arial"/>
              </a:rPr>
              <a:t>Frunze Travel · GetVisa · Бишкек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27080" y="6062472"/>
            <a:ext cx="6858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850" b="1" i="0">
                <a:solidFill>
                  <a:srgbClr val="54637C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6858000" cy="256032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000" b="1" i="0">
                <a:solidFill>
                  <a:srgbClr val="00676D"/>
                </a:solidFill>
                <a:latin typeface="Arial"/>
              </a:rPr>
              <a:t>ДЕНЬГИ ТОНУТ В ШУМЕ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9966960" cy="6583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3200" b="1" i="0">
                <a:solidFill>
                  <a:srgbClr val="15243D"/>
                </a:solidFill>
                <a:latin typeface="Arial"/>
              </a:rPr>
              <a:t>Проблема владельца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27632"/>
            <a:ext cx="2148840" cy="54864"/>
          </a:xfrm>
          <a:prstGeom prst="rect">
            <a:avLst/>
          </a:prstGeom>
          <a:solidFill>
            <a:srgbClr val="009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148840"/>
            <a:ext cx="9052560" cy="56692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3200" b="1" i="0">
                <a:solidFill>
                  <a:srgbClr val="15243D"/>
                </a:solidFill>
                <a:latin typeface="Arial"/>
              </a:rPr>
              <a:t>Из 100 обращений в день реальные деньги — 15–20.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944368"/>
            <a:ext cx="8138160" cy="5486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700" b="0" i="0">
                <a:solidFill>
                  <a:srgbClr val="54637C"/>
                </a:solidFill>
                <a:latin typeface="Arial"/>
              </a:rPr>
              <a:t>Горячий клиент теряется в общей куче, менеджер видит его слишком поздно.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977639"/>
            <a:ext cx="3063240" cy="1234440"/>
          </a:xfrm>
          <a:prstGeom prst="roundRect">
            <a:avLst/>
          </a:prstGeom>
          <a:solidFill>
            <a:srgbClr val="E0F5F1"/>
          </a:solidFill>
          <a:ln w="12700">
            <a:solidFill>
              <a:srgbClr val="B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224528"/>
            <a:ext cx="251460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2800" b="1" i="0">
                <a:solidFill>
                  <a:srgbClr val="009C94"/>
                </a:solidFill>
                <a:latin typeface="Arial"/>
              </a:rPr>
              <a:t>15–20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645152"/>
            <a:ext cx="2514600" cy="237744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300" b="1" i="0">
                <a:solidFill>
                  <a:srgbClr val="15243D"/>
                </a:solidFill>
                <a:latin typeface="Arial"/>
              </a:rPr>
              <a:t>клиентов с деньгами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0520" y="3977639"/>
            <a:ext cx="3063240" cy="123444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4224528"/>
            <a:ext cx="251460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2800" b="1" i="0">
                <a:solidFill>
                  <a:srgbClr val="8A95A3"/>
                </a:solidFill>
                <a:latin typeface="Arial"/>
              </a:rPr>
              <a:t>80+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4645152"/>
            <a:ext cx="2514600" cy="237744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300" b="1" i="0">
                <a:solidFill>
                  <a:srgbClr val="15243D"/>
                </a:solidFill>
                <a:latin typeface="Arial"/>
              </a:rPr>
              <a:t>шум и праздный спрос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977639"/>
            <a:ext cx="35661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1000" y="4315968"/>
            <a:ext cx="292608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500" b="0" i="1">
                <a:solidFill>
                  <a:srgbClr val="15243D"/>
                </a:solidFill>
                <a:latin typeface="Arial"/>
              </a:rPr>
              <a:t>«Видеть 12 с деньгами, а не читать 100 чатов»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062472"/>
            <a:ext cx="566928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850" b="0" i="0">
                <a:solidFill>
                  <a:srgbClr val="54637C"/>
                </a:solidFill>
                <a:latin typeface="Arial"/>
              </a:rPr>
              <a:t>Frunze Travel · GetVisa · Бишкек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27080" y="6062472"/>
            <a:ext cx="6858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850" b="1" i="0">
                <a:solidFill>
                  <a:srgbClr val="54637C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6858000" cy="256032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000" b="1" i="0">
                <a:solidFill>
                  <a:srgbClr val="00676D"/>
                </a:solidFill>
                <a:latin typeface="Arial"/>
              </a:rPr>
              <a:t>КАЖДЫЙ КЛИЕНТ ПОЛУЧАЕТ ЦВЕТ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9966960" cy="6583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3200" b="1" i="0">
                <a:solidFill>
                  <a:srgbClr val="15243D"/>
                </a:solidFill>
                <a:latin typeface="Arial"/>
              </a:rPr>
              <a:t>Решение: светофор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27632"/>
            <a:ext cx="2148840" cy="54864"/>
          </a:xfrm>
          <a:prstGeom prst="rect">
            <a:avLst/>
          </a:prstGeom>
          <a:solidFill>
            <a:srgbClr val="009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423160"/>
            <a:ext cx="342900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13232" y="2633472"/>
            <a:ext cx="3099816" cy="146304"/>
          </a:xfrm>
          <a:prstGeom prst="rect">
            <a:avLst/>
          </a:prstGeom>
          <a:solidFill>
            <a:srgbClr val="DE4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96112" y="3090672"/>
            <a:ext cx="621792" cy="621792"/>
          </a:xfrm>
          <a:prstGeom prst="ellipse">
            <a:avLst/>
          </a:prstGeom>
          <a:solidFill>
            <a:srgbClr val="DE4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3858768"/>
            <a:ext cx="2788920" cy="329184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900" b="1" i="0">
                <a:solidFill>
                  <a:srgbClr val="15243D"/>
                </a:solidFill>
                <a:latin typeface="Arial"/>
              </a:rPr>
              <a:t>Горячий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4370832"/>
            <a:ext cx="2788920" cy="6858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500" b="0" i="0">
                <a:solidFill>
                  <a:srgbClr val="54637C"/>
                </a:solidFill>
                <a:latin typeface="Arial"/>
              </a:rPr>
              <a:t>даты + бюджет → менеджеру с резюме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5230368"/>
            <a:ext cx="3099816" cy="73152"/>
          </a:xfrm>
          <a:prstGeom prst="rect">
            <a:avLst/>
          </a:prstGeom>
          <a:solidFill>
            <a:srgbClr val="FD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43400" y="2423160"/>
            <a:ext cx="342900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07992" y="2633472"/>
            <a:ext cx="3099816" cy="146304"/>
          </a:xfrm>
          <a:prstGeom prst="rect">
            <a:avLst/>
          </a:prstGeom>
          <a:solidFill>
            <a:srgbClr val="F5B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90872" y="3090672"/>
            <a:ext cx="621792" cy="621792"/>
          </a:xfrm>
          <a:prstGeom prst="ellipse">
            <a:avLst/>
          </a:prstGeom>
          <a:solidFill>
            <a:srgbClr val="F5B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90872" y="3858768"/>
            <a:ext cx="2788920" cy="329184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900" b="1" i="0">
                <a:solidFill>
                  <a:srgbClr val="15243D"/>
                </a:solidFill>
                <a:latin typeface="Arial"/>
              </a:rPr>
              <a:t>Тёплый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0872" y="4370832"/>
            <a:ext cx="2788920" cy="6858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500" b="0" i="0">
                <a:solidFill>
                  <a:srgbClr val="54637C"/>
                </a:solidFill>
                <a:latin typeface="Arial"/>
              </a:rPr>
              <a:t>думает → бот сам напоминает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07992" y="5230368"/>
            <a:ext cx="3099816" cy="73152"/>
          </a:xfrm>
          <a:prstGeom prst="rect">
            <a:avLst/>
          </a:prstGeom>
          <a:solidFill>
            <a:srgbClr val="FFF4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38160" y="2423160"/>
            <a:ext cx="342900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02752" y="2633472"/>
            <a:ext cx="3099816" cy="146304"/>
          </a:xfrm>
          <a:prstGeom prst="rect">
            <a:avLst/>
          </a:prstGeom>
          <a:solidFill>
            <a:srgbClr val="8A95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85632" y="3090672"/>
            <a:ext cx="621792" cy="621792"/>
          </a:xfrm>
          <a:prstGeom prst="ellipse">
            <a:avLst/>
          </a:prstGeom>
          <a:solidFill>
            <a:srgbClr val="8A95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85632" y="3858768"/>
            <a:ext cx="2788920" cy="329184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900" b="1" i="0">
                <a:solidFill>
                  <a:srgbClr val="15243D"/>
                </a:solidFill>
                <a:latin typeface="Arial"/>
              </a:rPr>
              <a:t>Просто спросил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85632" y="4370832"/>
            <a:ext cx="2788920" cy="6858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500" b="0" i="0">
                <a:solidFill>
                  <a:srgbClr val="54637C"/>
                </a:solidFill>
                <a:latin typeface="Arial"/>
              </a:rPr>
              <a:t>бот отвечает сам, менеджеров не трогает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5230368"/>
            <a:ext cx="3099816" cy="73152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062472"/>
            <a:ext cx="566928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850" b="0" i="0">
                <a:solidFill>
                  <a:srgbClr val="54637C"/>
                </a:solidFill>
                <a:latin typeface="Arial"/>
              </a:rPr>
              <a:t>Frunze Travel · GetVisa · Бишкек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27080" y="6062472"/>
            <a:ext cx="6858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850" b="1" i="0">
                <a:solidFill>
                  <a:srgbClr val="54637C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6858000" cy="256032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000" b="1" i="0">
                <a:solidFill>
                  <a:srgbClr val="B7CCD3"/>
                </a:solidFill>
                <a:latin typeface="Arial"/>
              </a:rPr>
              <a:t>УЖЕ РАБОТАЕТ НА ПРОДЕ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9966960" cy="6583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3200" b="1" i="0">
                <a:solidFill>
                  <a:srgbClr val="FFFFFF"/>
                </a:solidFill>
                <a:latin typeface="Arial"/>
              </a:rPr>
              <a:t>Панель владельца «Покупатели сегодня»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27632"/>
            <a:ext cx="2148840" cy="54864"/>
          </a:xfrm>
          <a:prstGeom prst="rect">
            <a:avLst/>
          </a:prstGeom>
          <a:solidFill>
            <a:srgbClr val="009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10469880" cy="3611880"/>
          </a:xfrm>
          <a:prstGeom prst="roundRect">
            <a:avLst/>
          </a:prstGeom>
          <a:solidFill>
            <a:srgbClr val="122D42"/>
          </a:solidFill>
          <a:ln w="12700">
            <a:solidFill>
              <a:srgbClr val="2A56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2304288"/>
            <a:ext cx="5669280" cy="3200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2000" b="1" i="0">
                <a:solidFill>
                  <a:srgbClr val="FFFFFF"/>
                </a:solidFill>
                <a:latin typeface="Arial"/>
              </a:rPr>
              <a:t>Бот уже разметил поток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2743200"/>
            <a:ext cx="603504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050" b="0" i="0">
                <a:solidFill>
                  <a:srgbClr val="B7CCD3"/>
                </a:solidFill>
                <a:latin typeface="Arial"/>
              </a:rPr>
              <a:t>деньги за 5 секунд, а не 100 чатов — размечено само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8992" y="3310128"/>
            <a:ext cx="2148840" cy="1417320"/>
          </a:xfrm>
          <a:prstGeom prst="roundRect">
            <a:avLst/>
          </a:prstGeom>
          <a:solidFill>
            <a:srgbClr val="183B52"/>
          </a:solidFill>
          <a:ln w="12700">
            <a:solidFill>
              <a:srgbClr val="375F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43584" y="3547872"/>
            <a:ext cx="1664208" cy="29260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2400" b="1" i="0">
                <a:solidFill>
                  <a:srgbClr val="009C94"/>
                </a:solidFill>
                <a:latin typeface="Arial"/>
              </a:rPr>
              <a:t>74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3584" y="3977639"/>
            <a:ext cx="1664208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250" b="0" i="0">
                <a:solidFill>
                  <a:srgbClr val="FFFFFF"/>
                </a:solidFill>
                <a:latin typeface="Arial"/>
              </a:rPr>
              <a:t>готовых</a:t>
            </a:r>
          </a:p>
          <a:p>
            <a:r>
              <a:rPr sz="1250" b="0" i="0">
                <a:solidFill>
                  <a:srgbClr val="FFFFFF"/>
                </a:solidFill>
                <a:latin typeface="Arial"/>
              </a:rPr>
              <a:t>платить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3310128"/>
            <a:ext cx="2148840" cy="1417320"/>
          </a:xfrm>
          <a:prstGeom prst="roundRect">
            <a:avLst/>
          </a:prstGeom>
          <a:solidFill>
            <a:srgbClr val="183B52"/>
          </a:solidFill>
          <a:ln w="12700">
            <a:solidFill>
              <a:srgbClr val="375F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30752" y="3547872"/>
            <a:ext cx="1664208" cy="29260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2400" b="1" i="0">
                <a:solidFill>
                  <a:srgbClr val="F5B440"/>
                </a:solidFill>
                <a:latin typeface="Arial"/>
              </a:rPr>
              <a:t>88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0752" y="3977639"/>
            <a:ext cx="1664208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250" b="0" i="0">
                <a:solidFill>
                  <a:srgbClr val="FFFFFF"/>
                </a:solidFill>
                <a:latin typeface="Arial"/>
              </a:rPr>
              <a:t>тёплых</a:t>
            </a:r>
          </a:p>
          <a:p>
            <a:r>
              <a:rPr sz="1250" b="0" i="0">
                <a:solidFill>
                  <a:srgbClr val="FFFFFF"/>
                </a:solidFill>
                <a:latin typeface="Arial"/>
              </a:rPr>
              <a:t>бот дожимает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53328" y="3310128"/>
            <a:ext cx="2148840" cy="1417320"/>
          </a:xfrm>
          <a:prstGeom prst="roundRect">
            <a:avLst/>
          </a:prstGeom>
          <a:solidFill>
            <a:srgbClr val="183B52"/>
          </a:solidFill>
          <a:ln w="12700">
            <a:solidFill>
              <a:srgbClr val="375F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3547872"/>
            <a:ext cx="1664208" cy="29260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2400" b="1" i="0">
                <a:solidFill>
                  <a:srgbClr val="8A95A3"/>
                </a:solidFill>
                <a:latin typeface="Arial"/>
              </a:rPr>
              <a:t>70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977639"/>
            <a:ext cx="1664208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250" b="0" i="0">
                <a:solidFill>
                  <a:srgbClr val="FFFFFF"/>
                </a:solidFill>
                <a:latin typeface="Arial"/>
              </a:rPr>
              <a:t>шум</a:t>
            </a:r>
          </a:p>
          <a:p>
            <a:r>
              <a:rPr sz="1250" b="0" i="0">
                <a:solidFill>
                  <a:srgbClr val="FFFFFF"/>
                </a:solidFill>
                <a:latin typeface="Arial"/>
              </a:rPr>
              <a:t>отсеян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40496" y="3310128"/>
            <a:ext cx="2148840" cy="1417320"/>
          </a:xfrm>
          <a:prstGeom prst="roundRect">
            <a:avLst/>
          </a:prstGeom>
          <a:solidFill>
            <a:srgbClr val="183B52"/>
          </a:solidFill>
          <a:ln w="12700">
            <a:solidFill>
              <a:srgbClr val="375F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05088" y="3547872"/>
            <a:ext cx="1664208" cy="29260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2400" b="1" i="0">
                <a:solidFill>
                  <a:srgbClr val="FFFFFF"/>
                </a:solidFill>
                <a:latin typeface="Arial"/>
              </a:rPr>
              <a:t>сам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05088" y="3977639"/>
            <a:ext cx="1664208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250" b="0" i="0">
                <a:solidFill>
                  <a:srgbClr val="FFFFFF"/>
                </a:solidFill>
                <a:latin typeface="Arial"/>
              </a:rPr>
              <a:t>без ручных</a:t>
            </a:r>
          </a:p>
          <a:p>
            <a:r>
              <a:rPr sz="1250" b="0" i="0">
                <a:solidFill>
                  <a:srgbClr val="FFFFFF"/>
                </a:solidFill>
                <a:latin typeface="Arial"/>
              </a:rPr>
              <a:t>кнопок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5010912"/>
            <a:ext cx="969264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050" b="0" i="0">
                <a:solidFill>
                  <a:srgbClr val="B7CCD3"/>
                </a:solidFill>
                <a:latin typeface="Arial"/>
              </a:rPr>
              <a:t>уже работает: бот сам метит горячих/тёплых/шум и даже исход диалога (оплатил/отказ/пропал)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062472"/>
            <a:ext cx="566928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850" b="0" i="0">
                <a:solidFill>
                  <a:srgbClr val="B7CCD3"/>
                </a:solidFill>
                <a:latin typeface="Arial"/>
              </a:rPr>
              <a:t>Frunze Travel · GetVisa · Бишкек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27080" y="6062472"/>
            <a:ext cx="6858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850" b="1" i="0">
                <a:solidFill>
                  <a:srgbClr val="B7CCD3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6858000" cy="256032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000" b="1" i="0">
                <a:solidFill>
                  <a:srgbClr val="00676D"/>
                </a:solidFill>
                <a:latin typeface="Arial"/>
              </a:rPr>
              <a:t>РЕЗУЛЬТАТ ДЛЯ БИЗНЕСА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9966960" cy="6583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3200" b="1" i="0">
                <a:solidFill>
                  <a:srgbClr val="15243D"/>
                </a:solidFill>
                <a:latin typeface="Arial"/>
              </a:rPr>
              <a:t>Что изменится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27632"/>
            <a:ext cx="2148840" cy="54864"/>
          </a:xfrm>
          <a:prstGeom prst="rect">
            <a:avLst/>
          </a:prstGeom>
          <a:solidFill>
            <a:srgbClr val="009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148840"/>
            <a:ext cx="53492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13232" y="2350008"/>
            <a:ext cx="73152" cy="914400"/>
          </a:xfrm>
          <a:prstGeom prst="rect">
            <a:avLst/>
          </a:prstGeom>
          <a:solidFill>
            <a:srgbClr val="009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377440"/>
            <a:ext cx="461772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800" b="1" i="0">
                <a:solidFill>
                  <a:srgbClr val="15243D"/>
                </a:solidFill>
                <a:latin typeface="Arial"/>
              </a:rPr>
              <a:t>Больше оплат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807208"/>
            <a:ext cx="461772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450" b="0" i="0">
                <a:solidFill>
                  <a:srgbClr val="54637C"/>
                </a:solidFill>
                <a:latin typeface="Arial"/>
              </a:rPr>
              <a:t>из того же входящего потока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48840"/>
            <a:ext cx="53492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28231" y="2350008"/>
            <a:ext cx="73152" cy="914400"/>
          </a:xfrm>
          <a:prstGeom prst="rect">
            <a:avLst/>
          </a:prstGeom>
          <a:solidFill>
            <a:srgbClr val="F5B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47688" y="2377440"/>
            <a:ext cx="461772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800" b="1" i="0">
                <a:solidFill>
                  <a:srgbClr val="15243D"/>
                </a:solidFill>
                <a:latin typeface="Arial"/>
              </a:rPr>
              <a:t>Менеджеры на деньгах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47688" y="2807208"/>
            <a:ext cx="461772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450" b="0" i="0">
                <a:solidFill>
                  <a:srgbClr val="54637C"/>
                </a:solidFill>
                <a:latin typeface="Arial"/>
              </a:rPr>
              <a:t>Адеми, Сезим, Медина, Элиза не перелопачивают шум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977639"/>
            <a:ext cx="53492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3232" y="4178807"/>
            <a:ext cx="73152" cy="914400"/>
          </a:xfrm>
          <a:prstGeom prst="rect">
            <a:avLst/>
          </a:prstGeom>
          <a:solidFill>
            <a:srgbClr val="009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4206240"/>
            <a:ext cx="461772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800" b="1" i="0">
                <a:solidFill>
                  <a:srgbClr val="15243D"/>
                </a:solidFill>
                <a:latin typeface="Arial"/>
              </a:rPr>
              <a:t>Репутация цела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636007"/>
            <a:ext cx="461772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450" b="0" i="0">
                <a:solidFill>
                  <a:srgbClr val="54637C"/>
                </a:solidFill>
                <a:latin typeface="Arial"/>
              </a:rPr>
              <a:t>даже простому вопросу отвечают тепло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977639"/>
            <a:ext cx="53492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28231" y="4178807"/>
            <a:ext cx="73152" cy="914400"/>
          </a:xfrm>
          <a:prstGeom prst="rect">
            <a:avLst/>
          </a:prstGeom>
          <a:solidFill>
            <a:srgbClr val="009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7688" y="4206240"/>
            <a:ext cx="461772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800" b="1" i="0">
                <a:solidFill>
                  <a:srgbClr val="15243D"/>
                </a:solidFill>
                <a:latin typeface="Arial"/>
              </a:rPr>
              <a:t>Владелец видит бизнес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7688" y="4636007"/>
            <a:ext cx="461772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450" b="0" i="0">
                <a:solidFill>
                  <a:srgbClr val="54637C"/>
                </a:solidFill>
                <a:latin typeface="Arial"/>
              </a:rPr>
              <a:t>не 100 чатов, а очередь возможностей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062472"/>
            <a:ext cx="566928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850" b="0" i="0">
                <a:solidFill>
                  <a:srgbClr val="54637C"/>
                </a:solidFill>
                <a:latin typeface="Arial"/>
              </a:rPr>
              <a:t>Frunze Travel · GetVisa · Бишкек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27080" y="6062472"/>
            <a:ext cx="6858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850" b="1" i="0">
                <a:solidFill>
                  <a:srgbClr val="54637C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6858000" cy="256032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000" b="1" i="0">
                <a:solidFill>
                  <a:srgbClr val="00676D"/>
                </a:solidFill>
                <a:latin typeface="Arial"/>
              </a:rPr>
              <a:t>ЧЕСТНЫЕ МЕТРИКИ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9966960" cy="6583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3200" b="1" i="0">
                <a:solidFill>
                  <a:srgbClr val="15243D"/>
                </a:solidFill>
                <a:latin typeface="Arial"/>
              </a:rPr>
              <a:t>Как поймём, что работает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27632"/>
            <a:ext cx="2148840" cy="54864"/>
          </a:xfrm>
          <a:prstGeom prst="rect">
            <a:avLst/>
          </a:prstGeom>
          <a:solidFill>
            <a:srgbClr val="009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514600"/>
            <a:ext cx="34290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880360"/>
            <a:ext cx="278892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800" b="1" i="0">
                <a:solidFill>
                  <a:srgbClr val="15243D"/>
                </a:solidFill>
                <a:latin typeface="Arial"/>
              </a:rPr>
              <a:t>Время реакции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3493008"/>
            <a:ext cx="1234440" cy="73152"/>
          </a:xfrm>
          <a:prstGeom prst="rect">
            <a:avLst/>
          </a:prstGeom>
          <a:solidFill>
            <a:srgbClr val="DE4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840480"/>
            <a:ext cx="2788920" cy="5486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550" b="0" i="0">
                <a:solidFill>
                  <a:srgbClr val="54637C"/>
                </a:solidFill>
                <a:latin typeface="Arial"/>
              </a:rPr>
              <a:t>на горячего: минуты, не часы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514600"/>
            <a:ext cx="34290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880360"/>
            <a:ext cx="278892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800" b="1" i="0">
                <a:solidFill>
                  <a:srgbClr val="15243D"/>
                </a:solidFill>
                <a:latin typeface="Arial"/>
              </a:rPr>
              <a:t>Конверсия в оплату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63440" y="3493008"/>
            <a:ext cx="1234440" cy="73152"/>
          </a:xfrm>
          <a:prstGeom prst="rect">
            <a:avLst/>
          </a:prstGeom>
          <a:solidFill>
            <a:srgbClr val="009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3840480"/>
            <a:ext cx="2788920" cy="5486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550" b="0" i="0">
                <a:solidFill>
                  <a:srgbClr val="54637C"/>
                </a:solidFill>
                <a:latin typeface="Arial"/>
              </a:rPr>
              <a:t>каждый диалог получает исход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514600"/>
            <a:ext cx="34290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2880360"/>
            <a:ext cx="278892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800" b="1" i="0">
                <a:solidFill>
                  <a:srgbClr val="15243D"/>
                </a:solidFill>
                <a:latin typeface="Arial"/>
              </a:rPr>
              <a:t>Горячих в день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58200" y="3493008"/>
            <a:ext cx="1234440" cy="73152"/>
          </a:xfrm>
          <a:prstGeom prst="rect">
            <a:avLst/>
          </a:prstGeom>
          <a:solidFill>
            <a:srgbClr val="F5B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8200" y="3840480"/>
            <a:ext cx="2788920" cy="5486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550" b="0" i="0">
                <a:solidFill>
                  <a:srgbClr val="54637C"/>
                </a:solidFill>
                <a:latin typeface="Arial"/>
              </a:rPr>
              <a:t>сколько бот выделил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532120"/>
            <a:ext cx="978408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800" b="1" i="0">
                <a:solidFill>
                  <a:srgbClr val="15243D"/>
                </a:solidFill>
                <a:latin typeface="Arial"/>
              </a:rPr>
              <a:t>Главный вопрос: стало ли больше оплат из того же потока.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062472"/>
            <a:ext cx="566928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850" b="0" i="0">
                <a:solidFill>
                  <a:srgbClr val="54637C"/>
                </a:solidFill>
                <a:latin typeface="Arial"/>
              </a:rPr>
              <a:t>Frunze Travel · GetVisa · Бишкек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27080" y="6062472"/>
            <a:ext cx="6858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850" b="1" i="0">
                <a:solidFill>
                  <a:srgbClr val="54637C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914400"/>
            <a:ext cx="5303520" cy="256032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100" b="1" i="0">
                <a:solidFill>
                  <a:srgbClr val="009C94"/>
                </a:solidFill>
                <a:latin typeface="Arial"/>
              </a:rPr>
              <a:t>Суть в одном предложении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08760"/>
            <a:ext cx="10561320" cy="21488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3200" b="1" i="0">
                <a:solidFill>
                  <a:srgbClr val="FFFFFF"/>
                </a:solidFill>
                <a:latin typeface="Arial"/>
              </a:rPr>
              <a:t>Бот становится фильтром: пропускает шум через себя, а вам подаёт людей с деньгами — вовремя и с сохранённой репутацией.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4251960"/>
            <a:ext cx="5852160" cy="1051560"/>
          </a:xfrm>
          <a:prstGeom prst="roundRect">
            <a:avLst/>
          </a:prstGeom>
          <a:solidFill>
            <a:srgbClr val="122D42"/>
          </a:solidFill>
          <a:ln w="12700">
            <a:solidFill>
              <a:srgbClr val="2A56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4535424"/>
            <a:ext cx="516636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600" b="1" i="0">
                <a:solidFill>
                  <a:srgbClr val="FFFFFF"/>
                </a:solidFill>
                <a:latin typeface="Arial"/>
              </a:rPr>
              <a:t>Frunze Travel · GetVisa · Бишкек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925312"/>
            <a:ext cx="10058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850" b="0" i="0">
                <a:solidFill>
                  <a:srgbClr val="B7CCD3"/>
                </a:solidFill>
                <a:latin typeface="Arial"/>
              </a:rPr>
              <a:t>Данные из рабочей базы за 1–3 июля 2026. Панель «Покупатели сегодня» уже работает на проде.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6858000" cy="256032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000" b="1" i="0">
                <a:solidFill>
                  <a:srgbClr val="00676D"/>
                </a:solidFill>
                <a:latin typeface="Arial"/>
              </a:rPr>
              <a:t>РЕАЛЬНЫЕ ДАННЫЕ ИЗ ПРОДА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9966960" cy="6583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3200" b="1" i="0">
                <a:solidFill>
                  <a:srgbClr val="15243D"/>
                </a:solidFill>
                <a:latin typeface="Arial"/>
              </a:rPr>
              <a:t>Сколько людей писали и сколько бот ответил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27632"/>
            <a:ext cx="2148840" cy="54864"/>
          </a:xfrm>
          <a:prstGeom prst="rect">
            <a:avLst/>
          </a:prstGeom>
          <a:solidFill>
            <a:srgbClr val="009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47088"/>
          <a:ext cx="11091672" cy="3584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331720"/>
                <a:gridCol w="3429000"/>
                <a:gridCol w="3913632"/>
              </a:tblGrid>
              <a:tr h="716889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День</a:t>
                      </a:r>
                    </a:p>
                  </a:txBody>
                  <a:tcPr marL="45720" marR="45720" marT="18288" marB="18288">
                    <a:solidFill>
                      <a:srgbClr val="122D4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Новых диалогов</a:t>
                      </a:r>
                    </a:p>
                  </a:txBody>
                  <a:tcPr marL="45720" marR="45720" marT="18288" marB="18288">
                    <a:solidFill>
                      <a:srgbClr val="122D4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Сообщений клиентов</a:t>
                      </a:r>
                    </a:p>
                  </a:txBody>
                  <a:tcPr marL="45720" marR="45720" marT="18288" marB="18288">
                    <a:solidFill>
                      <a:srgbClr val="122D4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Ответов бота</a:t>
                      </a:r>
                    </a:p>
                  </a:txBody>
                  <a:tcPr marL="45720" marR="45720" marT="18288" marB="18288">
                    <a:solidFill>
                      <a:srgbClr val="122D42"/>
                    </a:solidFill>
                  </a:tcPr>
                </a:tc>
              </a:tr>
              <a:tr h="716889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50" b="0" i="0">
                          <a:solidFill>
                            <a:srgbClr val="15243D"/>
                          </a:solidFill>
                          <a:latin typeface="Arial"/>
                        </a:rPr>
                        <a:t>03.07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50" b="0" i="0">
                          <a:solidFill>
                            <a:srgbClr val="15243D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50" b="0" i="0">
                          <a:solidFill>
                            <a:srgbClr val="15243D"/>
                          </a:solidFill>
                          <a:latin typeface="Arial"/>
                        </a:rPr>
                        <a:t>581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50" b="0" i="0">
                          <a:solidFill>
                            <a:srgbClr val="15243D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716889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50" b="0" i="0">
                          <a:solidFill>
                            <a:srgbClr val="15243D"/>
                          </a:solidFill>
                          <a:latin typeface="Arial"/>
                        </a:rPr>
                        <a:t>02.07</a:t>
                      </a:r>
                    </a:p>
                  </a:txBody>
                  <a:tcPr marL="45720" marR="45720" marT="18288" marB="18288">
                    <a:solidFill>
                      <a:srgbClr val="EEF2F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50" b="0" i="0">
                          <a:solidFill>
                            <a:srgbClr val="15243D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45720" marR="45720" marT="18288" marB="18288">
                    <a:solidFill>
                      <a:srgbClr val="EEF2F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50" b="0" i="0">
                          <a:solidFill>
                            <a:srgbClr val="15243D"/>
                          </a:solidFill>
                          <a:latin typeface="Arial"/>
                        </a:rPr>
                        <a:t>981</a:t>
                      </a:r>
                    </a:p>
                  </a:txBody>
                  <a:tcPr marL="45720" marR="45720" marT="18288" marB="18288">
                    <a:solidFill>
                      <a:srgbClr val="EEF2F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50" b="0" i="0">
                          <a:solidFill>
                            <a:srgbClr val="15243D"/>
                          </a:solidFill>
                          <a:latin typeface="Arial"/>
                        </a:rPr>
                        <a:t>776</a:t>
                      </a:r>
                    </a:p>
                  </a:txBody>
                  <a:tcPr marL="45720" marR="45720" marT="18288" marB="18288">
                    <a:solidFill>
                      <a:srgbClr val="EEF2F6"/>
                    </a:solidFill>
                  </a:tcPr>
                </a:tc>
              </a:tr>
              <a:tr h="716889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50" b="0" i="0">
                          <a:solidFill>
                            <a:srgbClr val="15243D"/>
                          </a:solidFill>
                          <a:latin typeface="Arial"/>
                        </a:rPr>
                        <a:t>01.07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50" b="0" i="0">
                          <a:solidFill>
                            <a:srgbClr val="15243D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50" b="0" i="0">
                          <a:solidFill>
                            <a:srgbClr val="15243D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50" b="0" i="0">
                          <a:solidFill>
                            <a:srgbClr val="15243D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716892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200" b="1" i="0">
                          <a:solidFill>
                            <a:srgbClr val="15243D"/>
                          </a:solidFill>
                          <a:latin typeface="Arial"/>
                        </a:rPr>
                        <a:t>ВСЕГО</a:t>
                      </a:r>
                    </a:p>
                  </a:txBody>
                  <a:tcPr marL="45720" marR="45720" marT="18288" marB="18288">
                    <a:solidFill>
                      <a:srgbClr val="FFF4D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200" b="1" i="0">
                          <a:solidFill>
                            <a:srgbClr val="15243D"/>
                          </a:solidFill>
                          <a:latin typeface="Arial"/>
                        </a:rPr>
                        <a:t>230 диалогов</a:t>
                      </a:r>
                    </a:p>
                  </a:txBody>
                  <a:tcPr marL="45720" marR="45720" marT="18288" marB="18288">
                    <a:solidFill>
                      <a:srgbClr val="FFF4D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200" b="1" i="0">
                          <a:solidFill>
                            <a:srgbClr val="15243D"/>
                          </a:solidFill>
                          <a:latin typeface="Arial"/>
                        </a:rPr>
                        <a:t>1806</a:t>
                      </a:r>
                    </a:p>
                  </a:txBody>
                  <a:tcPr marL="45720" marR="45720" marT="18288" marB="18288">
                    <a:solidFill>
                      <a:srgbClr val="FFF4D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200" b="1" i="0">
                          <a:solidFill>
                            <a:srgbClr val="15243D"/>
                          </a:solidFill>
                          <a:latin typeface="Arial"/>
                        </a:rPr>
                        <a:t>1400 ответов бота</a:t>
                      </a:r>
                    </a:p>
                  </a:txBody>
                  <a:tcPr marL="45720" marR="45720" marT="18288" marB="18288">
                    <a:solidFill>
                      <a:srgbClr val="FFF4D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559552"/>
            <a:ext cx="11091672" cy="347472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050" b="0" i="0">
                <a:solidFill>
                  <a:srgbClr val="54637C"/>
                </a:solidFill>
                <a:latin typeface="Arial"/>
              </a:rPr>
              <a:t>Бот в боевом режиме с 1 июля — отвечает 24/7, почти половина обращений приходит вне рабочих часов.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566928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850" b="0" i="0">
                <a:solidFill>
                  <a:srgbClr val="54637C"/>
                </a:solidFill>
                <a:latin typeface="Arial"/>
              </a:rPr>
              <a:t>Frunze Travel · GetVisa · Бишкек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062472"/>
            <a:ext cx="6858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850" b="1" i="0">
                <a:solidFill>
                  <a:srgbClr val="54637C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